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oppins" charset="1" panose="00000500000000000000"/>
      <p:regular r:id="rId16"/>
    </p:embeddedFont>
    <p:embeddedFont>
      <p:font typeface="DM Sans" charset="1" panose="00000000000000000000"/>
      <p:regular r:id="rId17"/>
    </p:embeddedFont>
    <p:embeddedFont>
      <p:font typeface="DM Sans Bold" charset="1" panose="00000000000000000000"/>
      <p:regular r:id="rId18"/>
    </p:embeddedFont>
    <p:embeddedFont>
      <p:font typeface="Poppins Bold" charset="1" panose="00000800000000000000"/>
      <p:regular r:id="rId19"/>
    </p:embeddedFont>
    <p:embeddedFont>
      <p:font typeface="Poppins Ultra-Bold" charset="1" panose="000009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9.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0.pn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 r="0" b="-555"/>
            </a:stretch>
          </a:blipFill>
        </p:spPr>
      </p:sp>
      <p:grpSp>
        <p:nvGrpSpPr>
          <p:cNvPr name="Group 3" id="3"/>
          <p:cNvGrpSpPr/>
          <p:nvPr/>
        </p:nvGrpSpPr>
        <p:grpSpPr>
          <a:xfrm rot="0">
            <a:off x="1726392" y="1434696"/>
            <a:ext cx="14835216" cy="7417608"/>
            <a:chOff x="0" y="0"/>
            <a:chExt cx="812800" cy="406400"/>
          </a:xfrm>
        </p:grpSpPr>
        <p:sp>
          <p:nvSpPr>
            <p:cNvPr name="Freeform 4" id="4"/>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D35">
                    <a:alpha val="66000"/>
                  </a:srgbClr>
                </a:gs>
                <a:gs pos="100000">
                  <a:srgbClr val="51778D">
                    <a:alpha val="66000"/>
                  </a:srgbClr>
                </a:gs>
              </a:gsLst>
              <a:lin ang="0"/>
            </a:gradFill>
            <a:ln cap="sq">
              <a:noFill/>
              <a:prstDash val="solid"/>
              <a:miter/>
            </a:ln>
          </p:spPr>
        </p:sp>
        <p:sp>
          <p:nvSpPr>
            <p:cNvPr name="TextBox 5" id="5"/>
            <p:cNvSpPr txBox="true"/>
            <p:nvPr/>
          </p:nvSpPr>
          <p:spPr>
            <a:xfrm>
              <a:off x="0" y="0"/>
              <a:ext cx="812800" cy="406400"/>
            </a:xfrm>
            <a:prstGeom prst="rect">
              <a:avLst/>
            </a:prstGeom>
          </p:spPr>
          <p:txBody>
            <a:bodyPr anchor="ctr" rtlCol="false" tIns="50800" lIns="50800" bIns="50800" rIns="50800"/>
            <a:lstStyle/>
            <a:p>
              <a:pPr algn="ctr" marL="0" indent="0" lvl="0">
                <a:lnSpc>
                  <a:spcPts val="2655"/>
                </a:lnSpc>
              </a:pPr>
            </a:p>
          </p:txBody>
        </p:sp>
      </p:grpSp>
      <p:sp>
        <p:nvSpPr>
          <p:cNvPr name="TextBox 6" id="6"/>
          <p:cNvSpPr txBox="true"/>
          <p:nvPr/>
        </p:nvSpPr>
        <p:spPr>
          <a:xfrm rot="0">
            <a:off x="3208060" y="2456572"/>
            <a:ext cx="11871879" cy="3183295"/>
          </a:xfrm>
          <a:prstGeom prst="rect">
            <a:avLst/>
          </a:prstGeom>
        </p:spPr>
        <p:txBody>
          <a:bodyPr anchor="t" rtlCol="false" tIns="0" lIns="0" bIns="0" rIns="0">
            <a:spAutoFit/>
          </a:bodyPr>
          <a:lstStyle/>
          <a:p>
            <a:pPr algn="ctr" marL="0" indent="0" lvl="0">
              <a:lnSpc>
                <a:spcPts val="11761"/>
              </a:lnSpc>
            </a:pPr>
            <a:r>
              <a:rPr lang="en-US" sz="12251">
                <a:solidFill>
                  <a:srgbClr val="FFFFFF"/>
                </a:solidFill>
                <a:latin typeface="Poppins"/>
                <a:ea typeface="Poppins"/>
                <a:cs typeface="Poppins"/>
                <a:sym typeface="Poppins"/>
              </a:rPr>
              <a:t>Crypto Lending Platform</a:t>
            </a:r>
          </a:p>
        </p:txBody>
      </p:sp>
      <p:grpSp>
        <p:nvGrpSpPr>
          <p:cNvPr name="Group 7" id="7"/>
          <p:cNvGrpSpPr/>
          <p:nvPr/>
        </p:nvGrpSpPr>
        <p:grpSpPr>
          <a:xfrm rot="0">
            <a:off x="5350274" y="6790548"/>
            <a:ext cx="7543677" cy="922810"/>
            <a:chOff x="0" y="0"/>
            <a:chExt cx="3322192" cy="406400"/>
          </a:xfrm>
        </p:grpSpPr>
        <p:sp>
          <p:nvSpPr>
            <p:cNvPr name="Freeform 8" id="8"/>
            <p:cNvSpPr/>
            <p:nvPr/>
          </p:nvSpPr>
          <p:spPr>
            <a:xfrm flipH="false" flipV="false" rot="0">
              <a:off x="0" y="0"/>
              <a:ext cx="3322192" cy="406400"/>
            </a:xfrm>
            <a:custGeom>
              <a:avLst/>
              <a:gdLst/>
              <a:ahLst/>
              <a:cxnLst/>
              <a:rect r="r" b="b" t="t" l="l"/>
              <a:pathLst>
                <a:path h="406400" w="3322192">
                  <a:moveTo>
                    <a:pt x="3118992" y="0"/>
                  </a:moveTo>
                  <a:cubicBezTo>
                    <a:pt x="3231216" y="0"/>
                    <a:pt x="3322192" y="90976"/>
                    <a:pt x="3322192" y="203200"/>
                  </a:cubicBezTo>
                  <a:cubicBezTo>
                    <a:pt x="3322192" y="315424"/>
                    <a:pt x="3231216" y="406400"/>
                    <a:pt x="3118992" y="406400"/>
                  </a:cubicBezTo>
                  <a:lnTo>
                    <a:pt x="203200" y="406400"/>
                  </a:lnTo>
                  <a:cubicBezTo>
                    <a:pt x="90976" y="406400"/>
                    <a:pt x="0" y="315424"/>
                    <a:pt x="0" y="203200"/>
                  </a:cubicBezTo>
                  <a:cubicBezTo>
                    <a:pt x="0" y="90976"/>
                    <a:pt x="90976" y="0"/>
                    <a:pt x="203200" y="0"/>
                  </a:cubicBezTo>
                  <a:close/>
                </a:path>
              </a:pathLst>
            </a:custGeom>
            <a:solidFill>
              <a:srgbClr val="FFFFFF"/>
            </a:solidFill>
          </p:spPr>
        </p:sp>
        <p:sp>
          <p:nvSpPr>
            <p:cNvPr name="TextBox 9" id="9"/>
            <p:cNvSpPr txBox="true"/>
            <p:nvPr/>
          </p:nvSpPr>
          <p:spPr>
            <a:xfrm>
              <a:off x="0" y="0"/>
              <a:ext cx="3322192" cy="406400"/>
            </a:xfrm>
            <a:prstGeom prst="rect">
              <a:avLst/>
            </a:prstGeom>
          </p:spPr>
          <p:txBody>
            <a:bodyPr anchor="ctr" rtlCol="false" tIns="50800" lIns="50800" bIns="50800" rIns="50800"/>
            <a:lstStyle/>
            <a:p>
              <a:pPr algn="ctr" marL="0" indent="0" lvl="0">
                <a:lnSpc>
                  <a:spcPts val="2655"/>
                </a:lnSpc>
              </a:pPr>
            </a:p>
          </p:txBody>
        </p:sp>
      </p:grpSp>
      <p:sp>
        <p:nvSpPr>
          <p:cNvPr name="Freeform 10" id="10"/>
          <p:cNvSpPr/>
          <p:nvPr/>
        </p:nvSpPr>
        <p:spPr>
          <a:xfrm flipH="false" flipV="false" rot="5400000">
            <a:off x="15889328" y="-38100"/>
            <a:ext cx="2436772" cy="2436772"/>
          </a:xfrm>
          <a:custGeom>
            <a:avLst/>
            <a:gdLst/>
            <a:ahLst/>
            <a:cxnLst/>
            <a:rect r="r" b="b" t="t" l="l"/>
            <a:pathLst>
              <a:path h="2436772" w="2436772">
                <a:moveTo>
                  <a:pt x="0" y="0"/>
                </a:moveTo>
                <a:lnTo>
                  <a:pt x="2436772" y="0"/>
                </a:lnTo>
                <a:lnTo>
                  <a:pt x="2436772" y="2436772"/>
                </a:lnTo>
                <a:lnTo>
                  <a:pt x="0" y="24367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5400000">
            <a:off x="-19050" y="7878803"/>
            <a:ext cx="2436772" cy="2436772"/>
          </a:xfrm>
          <a:custGeom>
            <a:avLst/>
            <a:gdLst/>
            <a:ahLst/>
            <a:cxnLst/>
            <a:rect r="r" b="b" t="t" l="l"/>
            <a:pathLst>
              <a:path h="2436772" w="2436772">
                <a:moveTo>
                  <a:pt x="0" y="0"/>
                </a:moveTo>
                <a:lnTo>
                  <a:pt x="2436772" y="0"/>
                </a:lnTo>
                <a:lnTo>
                  <a:pt x="2436772" y="2436772"/>
                </a:lnTo>
                <a:lnTo>
                  <a:pt x="0" y="24367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5138671" y="6989767"/>
            <a:ext cx="8010658" cy="330518"/>
          </a:xfrm>
          <a:prstGeom prst="rect">
            <a:avLst/>
          </a:prstGeom>
        </p:spPr>
        <p:txBody>
          <a:bodyPr anchor="t" rtlCol="false" tIns="0" lIns="0" bIns="0" rIns="0">
            <a:spAutoFit/>
          </a:bodyPr>
          <a:lstStyle/>
          <a:p>
            <a:pPr algn="ctr" marL="0" indent="0" lvl="0">
              <a:lnSpc>
                <a:spcPts val="2539"/>
              </a:lnSpc>
            </a:pPr>
            <a:r>
              <a:rPr lang="en-US" sz="2645">
                <a:solidFill>
                  <a:srgbClr val="567685"/>
                </a:solidFill>
                <a:latin typeface="DM Sans"/>
                <a:ea typeface="DM Sans"/>
                <a:cs typeface="DM Sans"/>
                <a:sym typeface="DM Sans"/>
              </a:rPr>
              <a:t>Executive Briefing | LOS/LMS Architecture Proposal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83B44"/>
        </a:solidFill>
      </p:bgPr>
    </p:bg>
    <p:spTree>
      <p:nvGrpSpPr>
        <p:cNvPr id="1" name=""/>
        <p:cNvGrpSpPr/>
        <p:nvPr/>
      </p:nvGrpSpPr>
      <p:grpSpPr>
        <a:xfrm>
          <a:off x="0" y="0"/>
          <a:ext cx="0" cy="0"/>
          <a:chOff x="0" y="0"/>
          <a:chExt cx="0" cy="0"/>
        </a:xfrm>
      </p:grpSpPr>
      <p:sp>
        <p:nvSpPr>
          <p:cNvPr name="Freeform 2" id="2"/>
          <p:cNvSpPr/>
          <p:nvPr/>
        </p:nvSpPr>
        <p:spPr>
          <a:xfrm flipH="false" flipV="false" rot="0">
            <a:off x="-2258054" y="7988869"/>
            <a:ext cx="7660380" cy="2005627"/>
          </a:xfrm>
          <a:custGeom>
            <a:avLst/>
            <a:gdLst/>
            <a:ahLst/>
            <a:cxnLst/>
            <a:rect r="r" b="b" t="t" l="l"/>
            <a:pathLst>
              <a:path h="2005627" w="7660380">
                <a:moveTo>
                  <a:pt x="0" y="0"/>
                </a:moveTo>
                <a:lnTo>
                  <a:pt x="7660380" y="0"/>
                </a:lnTo>
                <a:lnTo>
                  <a:pt x="7660380" y="2005627"/>
                </a:lnTo>
                <a:lnTo>
                  <a:pt x="0" y="2005627"/>
                </a:lnTo>
                <a:lnTo>
                  <a:pt x="0" y="0"/>
                </a:lnTo>
                <a:close/>
              </a:path>
            </a:pathLst>
          </a:custGeom>
          <a:blipFill>
            <a:blip r:embed="rId2"/>
            <a:stretch>
              <a:fillRect l="0" t="0" r="0" b="0"/>
            </a:stretch>
          </a:blipFill>
        </p:spPr>
      </p:sp>
      <p:grpSp>
        <p:nvGrpSpPr>
          <p:cNvPr name="Group 3" id="3"/>
          <p:cNvGrpSpPr/>
          <p:nvPr/>
        </p:nvGrpSpPr>
        <p:grpSpPr>
          <a:xfrm rot="0">
            <a:off x="1033839" y="1028700"/>
            <a:ext cx="4063546" cy="8229600"/>
            <a:chOff x="0" y="0"/>
            <a:chExt cx="629550" cy="1274980"/>
          </a:xfrm>
        </p:grpSpPr>
        <p:sp>
          <p:nvSpPr>
            <p:cNvPr name="Freeform 4" id="4"/>
            <p:cNvSpPr/>
            <p:nvPr/>
          </p:nvSpPr>
          <p:spPr>
            <a:xfrm flipH="false" flipV="false" rot="0">
              <a:off x="0" y="0"/>
              <a:ext cx="629550" cy="1274980"/>
            </a:xfrm>
            <a:custGeom>
              <a:avLst/>
              <a:gdLst/>
              <a:ahLst/>
              <a:cxnLst/>
              <a:rect r="r" b="b" t="t" l="l"/>
              <a:pathLst>
                <a:path h="1274980" w="629550">
                  <a:moveTo>
                    <a:pt x="81924" y="0"/>
                  </a:moveTo>
                  <a:lnTo>
                    <a:pt x="547625" y="0"/>
                  </a:lnTo>
                  <a:cubicBezTo>
                    <a:pt x="592871" y="0"/>
                    <a:pt x="629550" y="36679"/>
                    <a:pt x="629550" y="81924"/>
                  </a:cubicBezTo>
                  <a:lnTo>
                    <a:pt x="629550" y="1193056"/>
                  </a:lnTo>
                  <a:cubicBezTo>
                    <a:pt x="629550" y="1238302"/>
                    <a:pt x="592871" y="1274980"/>
                    <a:pt x="547625" y="1274980"/>
                  </a:cubicBezTo>
                  <a:lnTo>
                    <a:pt x="81924" y="1274980"/>
                  </a:lnTo>
                  <a:cubicBezTo>
                    <a:pt x="36679" y="1274980"/>
                    <a:pt x="0" y="1238302"/>
                    <a:pt x="0" y="1193056"/>
                  </a:cubicBezTo>
                  <a:lnTo>
                    <a:pt x="0" y="81924"/>
                  </a:lnTo>
                  <a:cubicBezTo>
                    <a:pt x="0" y="36679"/>
                    <a:pt x="36679" y="0"/>
                    <a:pt x="81924" y="0"/>
                  </a:cubicBezTo>
                  <a:close/>
                </a:path>
              </a:pathLst>
            </a:custGeom>
            <a:blipFill>
              <a:blip r:embed="rId3"/>
              <a:stretch>
                <a:fillRect l="0" t="-513" r="0" b="-513"/>
              </a:stretch>
            </a:blipFill>
            <a:ln w="114300" cap="rnd">
              <a:solidFill>
                <a:srgbClr val="000000"/>
              </a:solidFill>
              <a:prstDash val="solid"/>
              <a:round/>
            </a:ln>
          </p:spPr>
        </p:sp>
      </p:grpSp>
      <p:grpSp>
        <p:nvGrpSpPr>
          <p:cNvPr name="Group 5" id="5"/>
          <p:cNvGrpSpPr/>
          <p:nvPr/>
        </p:nvGrpSpPr>
        <p:grpSpPr>
          <a:xfrm rot="0">
            <a:off x="2549984" y="4976142"/>
            <a:ext cx="16656367" cy="3742115"/>
            <a:chOff x="0" y="0"/>
            <a:chExt cx="4386862" cy="985578"/>
          </a:xfrm>
        </p:grpSpPr>
        <p:sp>
          <p:nvSpPr>
            <p:cNvPr name="Freeform 6" id="6"/>
            <p:cNvSpPr/>
            <p:nvPr/>
          </p:nvSpPr>
          <p:spPr>
            <a:xfrm flipH="false" flipV="false" rot="0">
              <a:off x="0" y="0"/>
              <a:ext cx="4386862" cy="985578"/>
            </a:xfrm>
            <a:custGeom>
              <a:avLst/>
              <a:gdLst/>
              <a:ahLst/>
              <a:cxnLst/>
              <a:rect r="r" b="b" t="t" l="l"/>
              <a:pathLst>
                <a:path h="985578" w="4386862">
                  <a:moveTo>
                    <a:pt x="10226" y="0"/>
                  </a:moveTo>
                  <a:lnTo>
                    <a:pt x="4376636" y="0"/>
                  </a:lnTo>
                  <a:cubicBezTo>
                    <a:pt x="4382284" y="0"/>
                    <a:pt x="4386862" y="4578"/>
                    <a:pt x="4386862" y="10226"/>
                  </a:cubicBezTo>
                  <a:lnTo>
                    <a:pt x="4386862" y="975352"/>
                  </a:lnTo>
                  <a:cubicBezTo>
                    <a:pt x="4386862" y="978064"/>
                    <a:pt x="4385785" y="980665"/>
                    <a:pt x="4383867" y="982582"/>
                  </a:cubicBezTo>
                  <a:cubicBezTo>
                    <a:pt x="4381949" y="984500"/>
                    <a:pt x="4379349" y="985578"/>
                    <a:pt x="4376636" y="985578"/>
                  </a:cubicBezTo>
                  <a:lnTo>
                    <a:pt x="10226" y="985578"/>
                  </a:lnTo>
                  <a:cubicBezTo>
                    <a:pt x="7514" y="985578"/>
                    <a:pt x="4913" y="984500"/>
                    <a:pt x="2995" y="982582"/>
                  </a:cubicBezTo>
                  <a:cubicBezTo>
                    <a:pt x="1077" y="980665"/>
                    <a:pt x="0" y="978064"/>
                    <a:pt x="0" y="975352"/>
                  </a:cubicBezTo>
                  <a:lnTo>
                    <a:pt x="0" y="10226"/>
                  </a:lnTo>
                  <a:cubicBezTo>
                    <a:pt x="0" y="7514"/>
                    <a:pt x="1077" y="4913"/>
                    <a:pt x="2995" y="2995"/>
                  </a:cubicBezTo>
                  <a:cubicBezTo>
                    <a:pt x="4913" y="1077"/>
                    <a:pt x="7514" y="0"/>
                    <a:pt x="10226" y="0"/>
                  </a:cubicBezTo>
                  <a:close/>
                </a:path>
              </a:pathLst>
            </a:custGeom>
            <a:solidFill>
              <a:srgbClr val="FFFFFF">
                <a:alpha val="87843"/>
              </a:srgbClr>
            </a:solidFill>
          </p:spPr>
        </p:sp>
        <p:sp>
          <p:nvSpPr>
            <p:cNvPr name="TextBox 7" id="7"/>
            <p:cNvSpPr txBox="true"/>
            <p:nvPr/>
          </p:nvSpPr>
          <p:spPr>
            <a:xfrm>
              <a:off x="0" y="-38100"/>
              <a:ext cx="4386862" cy="1023678"/>
            </a:xfrm>
            <a:prstGeom prst="rect">
              <a:avLst/>
            </a:prstGeom>
          </p:spPr>
          <p:txBody>
            <a:bodyPr anchor="ctr" rtlCol="false" tIns="50800" lIns="50800" bIns="50800" rIns="50800"/>
            <a:lstStyle/>
            <a:p>
              <a:pPr algn="ctr" marL="0" indent="0" lvl="0">
                <a:lnSpc>
                  <a:spcPts val="3157"/>
                </a:lnSpc>
              </a:pPr>
            </a:p>
          </p:txBody>
        </p:sp>
      </p:grpSp>
      <p:sp>
        <p:nvSpPr>
          <p:cNvPr name="AutoShape 8" id="8"/>
          <p:cNvSpPr/>
          <p:nvPr/>
        </p:nvSpPr>
        <p:spPr>
          <a:xfrm flipV="true">
            <a:off x="7917568" y="5139427"/>
            <a:ext cx="0" cy="2963205"/>
          </a:xfrm>
          <a:prstGeom prst="line">
            <a:avLst/>
          </a:prstGeom>
          <a:ln cap="flat" w="19050">
            <a:solidFill>
              <a:srgbClr val="B8B8B8"/>
            </a:solidFill>
            <a:prstDash val="solid"/>
            <a:headEnd type="none" len="sm" w="sm"/>
            <a:tailEnd type="none" len="sm" w="sm"/>
          </a:ln>
        </p:spPr>
      </p:sp>
      <p:sp>
        <p:nvSpPr>
          <p:cNvPr name="AutoShape 9" id="9"/>
          <p:cNvSpPr/>
          <p:nvPr/>
        </p:nvSpPr>
        <p:spPr>
          <a:xfrm flipV="true">
            <a:off x="12608852" y="5139427"/>
            <a:ext cx="0" cy="2963205"/>
          </a:xfrm>
          <a:prstGeom prst="line">
            <a:avLst/>
          </a:prstGeom>
          <a:ln cap="flat" w="19050">
            <a:solidFill>
              <a:srgbClr val="B8B8B8"/>
            </a:solidFill>
            <a:prstDash val="solid"/>
            <a:headEnd type="none" len="sm" w="sm"/>
            <a:tailEnd type="none" len="sm" w="sm"/>
          </a:ln>
        </p:spPr>
      </p:sp>
      <p:sp>
        <p:nvSpPr>
          <p:cNvPr name="TextBox 10" id="10"/>
          <p:cNvSpPr txBox="true"/>
          <p:nvPr/>
        </p:nvSpPr>
        <p:spPr>
          <a:xfrm rot="0">
            <a:off x="5811760" y="3284167"/>
            <a:ext cx="9914273" cy="1166515"/>
          </a:xfrm>
          <a:prstGeom prst="rect">
            <a:avLst/>
          </a:prstGeom>
        </p:spPr>
        <p:txBody>
          <a:bodyPr anchor="t" rtlCol="false" tIns="0" lIns="0" bIns="0" rIns="0">
            <a:spAutoFit/>
          </a:bodyPr>
          <a:lstStyle/>
          <a:p>
            <a:pPr algn="l" marL="0" indent="0" lvl="0">
              <a:lnSpc>
                <a:spcPts val="2378"/>
              </a:lnSpc>
            </a:pPr>
            <a:r>
              <a:rPr lang="en-US" sz="1699">
                <a:solidFill>
                  <a:srgbClr val="FFFFFF"/>
                </a:solidFill>
                <a:latin typeface="DM Sans"/>
                <a:ea typeface="DM Sans"/>
                <a:cs typeface="DM Sans"/>
                <a:sym typeface="DM Sans"/>
              </a:rPr>
              <a:t>A next-generation, institutional-grade crypto lending platform built on a LendFoundry-style LOS/LMS architecture. Designed to deliver scalable, compliant, and automated lending infrastructure for digital asset ecosystems — bridging DeFi agility with enterprise-grade credit operations.</a:t>
            </a:r>
          </a:p>
        </p:txBody>
      </p:sp>
      <p:sp>
        <p:nvSpPr>
          <p:cNvPr name="TextBox 11" id="11"/>
          <p:cNvSpPr txBox="true"/>
          <p:nvPr/>
        </p:nvSpPr>
        <p:spPr>
          <a:xfrm rot="0">
            <a:off x="3413792" y="6316039"/>
            <a:ext cx="4152089" cy="1466366"/>
          </a:xfrm>
          <a:prstGeom prst="rect">
            <a:avLst/>
          </a:prstGeom>
        </p:spPr>
        <p:txBody>
          <a:bodyPr anchor="t" rtlCol="false" tIns="0" lIns="0" bIns="0" rIns="0">
            <a:spAutoFit/>
          </a:bodyPr>
          <a:lstStyle/>
          <a:p>
            <a:pPr algn="l" marL="0" indent="0" lvl="0">
              <a:lnSpc>
                <a:spcPts val="2341"/>
              </a:lnSpc>
            </a:pPr>
            <a:r>
              <a:rPr lang="en-US" sz="1510">
                <a:solidFill>
                  <a:srgbClr val="283B44"/>
                </a:solidFill>
                <a:latin typeface="DM Sans"/>
                <a:ea typeface="DM Sans"/>
                <a:cs typeface="DM Sans"/>
                <a:sym typeface="DM Sans"/>
              </a:rPr>
              <a:t>Enable institutions, DAOs, and retail users to originate, manage, and service crypto-backed loans at scale. Automate underwriting, collateral monitoring, and liquidation workflows through a unified, API-first lending engine.</a:t>
            </a:r>
          </a:p>
        </p:txBody>
      </p:sp>
      <p:sp>
        <p:nvSpPr>
          <p:cNvPr name="TextBox 12" id="12"/>
          <p:cNvSpPr txBox="true"/>
          <p:nvPr/>
        </p:nvSpPr>
        <p:spPr>
          <a:xfrm rot="0">
            <a:off x="8284602" y="6316039"/>
            <a:ext cx="4020728" cy="1761641"/>
          </a:xfrm>
          <a:prstGeom prst="rect">
            <a:avLst/>
          </a:prstGeom>
        </p:spPr>
        <p:txBody>
          <a:bodyPr anchor="t" rtlCol="false" tIns="0" lIns="0" bIns="0" rIns="0">
            <a:spAutoFit/>
          </a:bodyPr>
          <a:lstStyle/>
          <a:p>
            <a:pPr algn="l" marL="0" indent="0" lvl="0">
              <a:lnSpc>
                <a:spcPts val="2341"/>
              </a:lnSpc>
            </a:pPr>
            <a:r>
              <a:rPr lang="en-US" sz="1510">
                <a:solidFill>
                  <a:srgbClr val="283B44"/>
                </a:solidFill>
                <a:latin typeface="DM Sans"/>
                <a:ea typeface="DM Sans"/>
                <a:cs typeface="DM Sans"/>
                <a:sym typeface="DM Sans"/>
              </a:rPr>
              <a:t>Serving institutional lenders, crypto exchanges, neobanks, and HNW borrowers. Core products include crypto-collateralized loans, margin lending, yield-backed credit lines, and stablecoin disbursements across BTC, ETH, and major altcoins.</a:t>
            </a:r>
          </a:p>
        </p:txBody>
      </p:sp>
      <p:sp>
        <p:nvSpPr>
          <p:cNvPr name="TextBox 13" id="13"/>
          <p:cNvSpPr txBox="true"/>
          <p:nvPr/>
        </p:nvSpPr>
        <p:spPr>
          <a:xfrm rot="0">
            <a:off x="13022088" y="6316039"/>
            <a:ext cx="4294368" cy="1761641"/>
          </a:xfrm>
          <a:prstGeom prst="rect">
            <a:avLst/>
          </a:prstGeom>
        </p:spPr>
        <p:txBody>
          <a:bodyPr anchor="t" rtlCol="false" tIns="0" lIns="0" bIns="0" rIns="0">
            <a:spAutoFit/>
          </a:bodyPr>
          <a:lstStyle/>
          <a:p>
            <a:pPr algn="l" marL="0" indent="0" lvl="0">
              <a:lnSpc>
                <a:spcPts val="2341"/>
              </a:lnSpc>
            </a:pPr>
            <a:r>
              <a:rPr lang="en-US" sz="1510">
                <a:solidFill>
                  <a:srgbClr val="283B44"/>
                </a:solidFill>
                <a:latin typeface="DM Sans"/>
                <a:ea typeface="DM Sans"/>
                <a:cs typeface="DM Sans"/>
                <a:sym typeface="DM Sans"/>
              </a:rPr>
              <a:t>End-to-end LOS/LMS automation reduces operational overhead by 60%. Real-time collateral health monitoring, configurable risk parameters, and multi-jurisdictional compliance frameworks deliver a decisive advantage over fragmented legacy solutions.</a:t>
            </a:r>
          </a:p>
        </p:txBody>
      </p:sp>
      <p:sp>
        <p:nvSpPr>
          <p:cNvPr name="TextBox 14" id="14"/>
          <p:cNvSpPr txBox="true"/>
          <p:nvPr/>
        </p:nvSpPr>
        <p:spPr>
          <a:xfrm rot="0">
            <a:off x="3413792" y="5582754"/>
            <a:ext cx="3807561" cy="390426"/>
          </a:xfrm>
          <a:prstGeom prst="rect">
            <a:avLst/>
          </a:prstGeom>
        </p:spPr>
        <p:txBody>
          <a:bodyPr anchor="t" rtlCol="false" tIns="0" lIns="0" bIns="0" rIns="0">
            <a:spAutoFit/>
          </a:bodyPr>
          <a:lstStyle/>
          <a:p>
            <a:pPr algn="l" marL="0" indent="0" lvl="0">
              <a:lnSpc>
                <a:spcPts val="3155"/>
              </a:lnSpc>
            </a:pPr>
            <a:r>
              <a:rPr lang="en-US" b="true" sz="2253" spc="-24">
                <a:solidFill>
                  <a:srgbClr val="283B44"/>
                </a:solidFill>
                <a:latin typeface="DM Sans Bold"/>
                <a:ea typeface="DM Sans Bold"/>
                <a:cs typeface="DM Sans Bold"/>
                <a:sym typeface="DM Sans Bold"/>
              </a:rPr>
              <a:t>Platform Objective</a:t>
            </a:r>
          </a:p>
        </p:txBody>
      </p:sp>
      <p:sp>
        <p:nvSpPr>
          <p:cNvPr name="TextBox 15" id="15"/>
          <p:cNvSpPr txBox="true"/>
          <p:nvPr/>
        </p:nvSpPr>
        <p:spPr>
          <a:xfrm rot="0">
            <a:off x="8284602" y="5582754"/>
            <a:ext cx="4020728" cy="390426"/>
          </a:xfrm>
          <a:prstGeom prst="rect">
            <a:avLst/>
          </a:prstGeom>
        </p:spPr>
        <p:txBody>
          <a:bodyPr anchor="t" rtlCol="false" tIns="0" lIns="0" bIns="0" rIns="0">
            <a:spAutoFit/>
          </a:bodyPr>
          <a:lstStyle/>
          <a:p>
            <a:pPr algn="l" marL="0" indent="0" lvl="0">
              <a:lnSpc>
                <a:spcPts val="3155"/>
              </a:lnSpc>
            </a:pPr>
            <a:r>
              <a:rPr lang="en-US" b="true" sz="2253" spc="-24">
                <a:solidFill>
                  <a:srgbClr val="283B44"/>
                </a:solidFill>
                <a:latin typeface="DM Sans Bold"/>
                <a:ea typeface="DM Sans Bold"/>
                <a:cs typeface="DM Sans Bold"/>
                <a:sym typeface="DM Sans Bold"/>
              </a:rPr>
              <a:t>Target Users &amp; Products</a:t>
            </a:r>
          </a:p>
        </p:txBody>
      </p:sp>
      <p:sp>
        <p:nvSpPr>
          <p:cNvPr name="TextBox 16" id="16"/>
          <p:cNvSpPr txBox="true"/>
          <p:nvPr/>
        </p:nvSpPr>
        <p:spPr>
          <a:xfrm rot="0">
            <a:off x="13022088" y="5582754"/>
            <a:ext cx="4482249" cy="390426"/>
          </a:xfrm>
          <a:prstGeom prst="rect">
            <a:avLst/>
          </a:prstGeom>
        </p:spPr>
        <p:txBody>
          <a:bodyPr anchor="t" rtlCol="false" tIns="0" lIns="0" bIns="0" rIns="0">
            <a:spAutoFit/>
          </a:bodyPr>
          <a:lstStyle/>
          <a:p>
            <a:pPr algn="l" marL="0" indent="0" lvl="0">
              <a:lnSpc>
                <a:spcPts val="3155"/>
              </a:lnSpc>
            </a:pPr>
            <a:r>
              <a:rPr lang="en-US" b="true" sz="2253" spc="-24">
                <a:solidFill>
                  <a:srgbClr val="283B44"/>
                </a:solidFill>
                <a:latin typeface="DM Sans Bold"/>
                <a:ea typeface="DM Sans Bold"/>
                <a:cs typeface="DM Sans Bold"/>
                <a:sym typeface="DM Sans Bold"/>
              </a:rPr>
              <a:t>Competitive Differentiation</a:t>
            </a:r>
          </a:p>
        </p:txBody>
      </p:sp>
      <p:sp>
        <p:nvSpPr>
          <p:cNvPr name="TextBox 17" id="17"/>
          <p:cNvSpPr txBox="true"/>
          <p:nvPr/>
        </p:nvSpPr>
        <p:spPr>
          <a:xfrm rot="0">
            <a:off x="5811760" y="1796441"/>
            <a:ext cx="10132815" cy="871328"/>
          </a:xfrm>
          <a:prstGeom prst="rect">
            <a:avLst/>
          </a:prstGeom>
        </p:spPr>
        <p:txBody>
          <a:bodyPr anchor="t" rtlCol="false" tIns="0" lIns="0" bIns="0" rIns="0">
            <a:spAutoFit/>
          </a:bodyPr>
          <a:lstStyle/>
          <a:p>
            <a:pPr algn="l" marL="0" indent="0" lvl="0">
              <a:lnSpc>
                <a:spcPts val="6381"/>
              </a:lnSpc>
            </a:pPr>
            <a:r>
              <a:rPr lang="en-US" sz="5597" spc="-240">
                <a:solidFill>
                  <a:srgbClr val="FFFFFF"/>
                </a:solidFill>
                <a:latin typeface="Poppins"/>
                <a:ea typeface="Poppins"/>
                <a:cs typeface="Poppins"/>
                <a:sym typeface="Poppins"/>
              </a:rPr>
              <a:t>Crypto Lending Platform</a:t>
            </a:r>
          </a:p>
        </p:txBody>
      </p:sp>
      <p:sp>
        <p:nvSpPr>
          <p:cNvPr name="Freeform 18" id="18"/>
          <p:cNvSpPr/>
          <p:nvPr/>
        </p:nvSpPr>
        <p:spPr>
          <a:xfrm flipH="false" flipV="false" rot="5400000">
            <a:off x="15889328" y="-38100"/>
            <a:ext cx="2436772" cy="2436772"/>
          </a:xfrm>
          <a:custGeom>
            <a:avLst/>
            <a:gdLst/>
            <a:ahLst/>
            <a:cxnLst/>
            <a:rect r="r" b="b" t="t" l="l"/>
            <a:pathLst>
              <a:path h="2436772" w="2436772">
                <a:moveTo>
                  <a:pt x="0" y="0"/>
                </a:moveTo>
                <a:lnTo>
                  <a:pt x="2436772" y="0"/>
                </a:lnTo>
                <a:lnTo>
                  <a:pt x="2436772" y="2436772"/>
                </a:lnTo>
                <a:lnTo>
                  <a:pt x="0" y="24367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5400000">
            <a:off x="-19050" y="7878803"/>
            <a:ext cx="2436772" cy="2436772"/>
          </a:xfrm>
          <a:custGeom>
            <a:avLst/>
            <a:gdLst/>
            <a:ahLst/>
            <a:cxnLst/>
            <a:rect r="r" b="b" t="t" l="l"/>
            <a:pathLst>
              <a:path h="2436772" w="2436772">
                <a:moveTo>
                  <a:pt x="0" y="0"/>
                </a:moveTo>
                <a:lnTo>
                  <a:pt x="2436772" y="0"/>
                </a:lnTo>
                <a:lnTo>
                  <a:pt x="2436772" y="2436772"/>
                </a:lnTo>
                <a:lnTo>
                  <a:pt x="0" y="24367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83B44"/>
        </a:solidFill>
      </p:bgPr>
    </p:bg>
    <p:spTree>
      <p:nvGrpSpPr>
        <p:cNvPr id="1" name=""/>
        <p:cNvGrpSpPr/>
        <p:nvPr/>
      </p:nvGrpSpPr>
      <p:grpSpPr>
        <a:xfrm>
          <a:off x="0" y="0"/>
          <a:ext cx="0" cy="0"/>
          <a:chOff x="0" y="0"/>
          <a:chExt cx="0" cy="0"/>
        </a:xfrm>
      </p:grpSpPr>
      <p:grpSp>
        <p:nvGrpSpPr>
          <p:cNvPr name="Group 2" id="2"/>
          <p:cNvGrpSpPr/>
          <p:nvPr/>
        </p:nvGrpSpPr>
        <p:grpSpPr>
          <a:xfrm rot="0">
            <a:off x="6309116" y="4224240"/>
            <a:ext cx="3445818" cy="4749056"/>
            <a:chOff x="0" y="0"/>
            <a:chExt cx="907540" cy="1250780"/>
          </a:xfrm>
        </p:grpSpPr>
        <p:sp>
          <p:nvSpPr>
            <p:cNvPr name="Freeform 3" id="3"/>
            <p:cNvSpPr/>
            <p:nvPr/>
          </p:nvSpPr>
          <p:spPr>
            <a:xfrm flipH="false" flipV="false" rot="0">
              <a:off x="0" y="0"/>
              <a:ext cx="907540" cy="1250780"/>
            </a:xfrm>
            <a:custGeom>
              <a:avLst/>
              <a:gdLst/>
              <a:ahLst/>
              <a:cxnLst/>
              <a:rect r="r" b="b" t="t" l="l"/>
              <a:pathLst>
                <a:path h="1250780" w="907540">
                  <a:moveTo>
                    <a:pt x="71896" y="0"/>
                  </a:moveTo>
                  <a:lnTo>
                    <a:pt x="835644" y="0"/>
                  </a:lnTo>
                  <a:cubicBezTo>
                    <a:pt x="875351" y="0"/>
                    <a:pt x="907540" y="32189"/>
                    <a:pt x="907540" y="71896"/>
                  </a:cubicBezTo>
                  <a:lnTo>
                    <a:pt x="907540" y="1178884"/>
                  </a:lnTo>
                  <a:cubicBezTo>
                    <a:pt x="907540" y="1197952"/>
                    <a:pt x="899966" y="1216239"/>
                    <a:pt x="886483" y="1229722"/>
                  </a:cubicBezTo>
                  <a:cubicBezTo>
                    <a:pt x="872999" y="1243205"/>
                    <a:pt x="854712" y="1250780"/>
                    <a:pt x="835644" y="1250780"/>
                  </a:cubicBezTo>
                  <a:lnTo>
                    <a:pt x="71896" y="1250780"/>
                  </a:lnTo>
                  <a:cubicBezTo>
                    <a:pt x="52828" y="1250780"/>
                    <a:pt x="34541" y="1243205"/>
                    <a:pt x="21058" y="1229722"/>
                  </a:cubicBezTo>
                  <a:cubicBezTo>
                    <a:pt x="7575" y="1216239"/>
                    <a:pt x="0" y="1197952"/>
                    <a:pt x="0" y="1178884"/>
                  </a:cubicBezTo>
                  <a:lnTo>
                    <a:pt x="0" y="71896"/>
                  </a:lnTo>
                  <a:cubicBezTo>
                    <a:pt x="0" y="52828"/>
                    <a:pt x="7575" y="34541"/>
                    <a:pt x="21058" y="21058"/>
                  </a:cubicBezTo>
                  <a:cubicBezTo>
                    <a:pt x="34541" y="7575"/>
                    <a:pt x="52828" y="0"/>
                    <a:pt x="71896" y="0"/>
                  </a:cubicBezTo>
                  <a:close/>
                </a:path>
              </a:pathLst>
            </a:custGeom>
            <a:solidFill>
              <a:srgbClr val="FFFFFF"/>
            </a:solidFill>
          </p:spPr>
        </p:sp>
        <p:sp>
          <p:nvSpPr>
            <p:cNvPr name="TextBox 4" id="4"/>
            <p:cNvSpPr txBox="true"/>
            <p:nvPr/>
          </p:nvSpPr>
          <p:spPr>
            <a:xfrm>
              <a:off x="0" y="-266700"/>
              <a:ext cx="907540" cy="1517480"/>
            </a:xfrm>
            <a:prstGeom prst="rect">
              <a:avLst/>
            </a:prstGeom>
          </p:spPr>
          <p:txBody>
            <a:bodyPr anchor="ctr" rtlCol="false" tIns="50800" lIns="50800" bIns="50800" rIns="50800"/>
            <a:lstStyle/>
            <a:p>
              <a:pPr algn="ctr" marL="0" indent="0" lvl="0">
                <a:lnSpc>
                  <a:spcPts val="4905"/>
                </a:lnSpc>
              </a:pPr>
            </a:p>
          </p:txBody>
        </p:sp>
      </p:grpSp>
      <p:grpSp>
        <p:nvGrpSpPr>
          <p:cNvPr name="Group 5" id="5"/>
          <p:cNvGrpSpPr/>
          <p:nvPr/>
        </p:nvGrpSpPr>
        <p:grpSpPr>
          <a:xfrm rot="0">
            <a:off x="10158033" y="4224240"/>
            <a:ext cx="3445818" cy="4749056"/>
            <a:chOff x="0" y="0"/>
            <a:chExt cx="907540" cy="1250780"/>
          </a:xfrm>
        </p:grpSpPr>
        <p:sp>
          <p:nvSpPr>
            <p:cNvPr name="Freeform 6" id="6"/>
            <p:cNvSpPr/>
            <p:nvPr/>
          </p:nvSpPr>
          <p:spPr>
            <a:xfrm flipH="false" flipV="false" rot="0">
              <a:off x="0" y="0"/>
              <a:ext cx="907540" cy="1250780"/>
            </a:xfrm>
            <a:custGeom>
              <a:avLst/>
              <a:gdLst/>
              <a:ahLst/>
              <a:cxnLst/>
              <a:rect r="r" b="b" t="t" l="l"/>
              <a:pathLst>
                <a:path h="1250780" w="907540">
                  <a:moveTo>
                    <a:pt x="71896" y="0"/>
                  </a:moveTo>
                  <a:lnTo>
                    <a:pt x="835644" y="0"/>
                  </a:lnTo>
                  <a:cubicBezTo>
                    <a:pt x="875351" y="0"/>
                    <a:pt x="907540" y="32189"/>
                    <a:pt x="907540" y="71896"/>
                  </a:cubicBezTo>
                  <a:lnTo>
                    <a:pt x="907540" y="1178884"/>
                  </a:lnTo>
                  <a:cubicBezTo>
                    <a:pt x="907540" y="1197952"/>
                    <a:pt x="899966" y="1216239"/>
                    <a:pt x="886483" y="1229722"/>
                  </a:cubicBezTo>
                  <a:cubicBezTo>
                    <a:pt x="872999" y="1243205"/>
                    <a:pt x="854712" y="1250780"/>
                    <a:pt x="835644" y="1250780"/>
                  </a:cubicBezTo>
                  <a:lnTo>
                    <a:pt x="71896" y="1250780"/>
                  </a:lnTo>
                  <a:cubicBezTo>
                    <a:pt x="52828" y="1250780"/>
                    <a:pt x="34541" y="1243205"/>
                    <a:pt x="21058" y="1229722"/>
                  </a:cubicBezTo>
                  <a:cubicBezTo>
                    <a:pt x="7575" y="1216239"/>
                    <a:pt x="0" y="1197952"/>
                    <a:pt x="0" y="1178884"/>
                  </a:cubicBezTo>
                  <a:lnTo>
                    <a:pt x="0" y="71896"/>
                  </a:lnTo>
                  <a:cubicBezTo>
                    <a:pt x="0" y="52828"/>
                    <a:pt x="7575" y="34541"/>
                    <a:pt x="21058" y="21058"/>
                  </a:cubicBezTo>
                  <a:cubicBezTo>
                    <a:pt x="34541" y="7575"/>
                    <a:pt x="52828" y="0"/>
                    <a:pt x="71896" y="0"/>
                  </a:cubicBezTo>
                  <a:close/>
                </a:path>
              </a:pathLst>
            </a:custGeom>
            <a:solidFill>
              <a:srgbClr val="FFFFFF"/>
            </a:solidFill>
          </p:spPr>
        </p:sp>
        <p:sp>
          <p:nvSpPr>
            <p:cNvPr name="TextBox 7" id="7"/>
            <p:cNvSpPr txBox="true"/>
            <p:nvPr/>
          </p:nvSpPr>
          <p:spPr>
            <a:xfrm>
              <a:off x="0" y="-266700"/>
              <a:ext cx="907540" cy="1517480"/>
            </a:xfrm>
            <a:prstGeom prst="rect">
              <a:avLst/>
            </a:prstGeom>
          </p:spPr>
          <p:txBody>
            <a:bodyPr anchor="ctr" rtlCol="false" tIns="50800" lIns="50800" bIns="50800" rIns="50800"/>
            <a:lstStyle/>
            <a:p>
              <a:pPr algn="ctr" marL="0" indent="0" lvl="0">
                <a:lnSpc>
                  <a:spcPts val="4905"/>
                </a:lnSpc>
              </a:pPr>
            </a:p>
          </p:txBody>
        </p:sp>
      </p:grpSp>
      <p:grpSp>
        <p:nvGrpSpPr>
          <p:cNvPr name="Group 8" id="8"/>
          <p:cNvGrpSpPr/>
          <p:nvPr/>
        </p:nvGrpSpPr>
        <p:grpSpPr>
          <a:xfrm rot="0">
            <a:off x="6309116" y="1313704"/>
            <a:ext cx="3445818" cy="3625608"/>
            <a:chOff x="0" y="0"/>
            <a:chExt cx="533847" cy="561702"/>
          </a:xfrm>
        </p:grpSpPr>
        <p:sp>
          <p:nvSpPr>
            <p:cNvPr name="Freeform 9" id="9"/>
            <p:cNvSpPr/>
            <p:nvPr/>
          </p:nvSpPr>
          <p:spPr>
            <a:xfrm flipH="false" flipV="false" rot="0">
              <a:off x="0" y="0"/>
              <a:ext cx="533847" cy="561702"/>
            </a:xfrm>
            <a:custGeom>
              <a:avLst/>
              <a:gdLst/>
              <a:ahLst/>
              <a:cxnLst/>
              <a:rect r="r" b="b" t="t" l="l"/>
              <a:pathLst>
                <a:path h="561702" w="533847">
                  <a:moveTo>
                    <a:pt x="60662" y="0"/>
                  </a:moveTo>
                  <a:lnTo>
                    <a:pt x="473185" y="0"/>
                  </a:lnTo>
                  <a:cubicBezTo>
                    <a:pt x="506688" y="0"/>
                    <a:pt x="533847" y="27160"/>
                    <a:pt x="533847" y="60662"/>
                  </a:cubicBezTo>
                  <a:lnTo>
                    <a:pt x="533847" y="501039"/>
                  </a:lnTo>
                  <a:cubicBezTo>
                    <a:pt x="533847" y="534542"/>
                    <a:pt x="506688" y="561702"/>
                    <a:pt x="473185" y="561702"/>
                  </a:cubicBezTo>
                  <a:lnTo>
                    <a:pt x="60662" y="561702"/>
                  </a:lnTo>
                  <a:cubicBezTo>
                    <a:pt x="27160" y="561702"/>
                    <a:pt x="0" y="534542"/>
                    <a:pt x="0" y="501039"/>
                  </a:cubicBezTo>
                  <a:lnTo>
                    <a:pt x="0" y="60662"/>
                  </a:lnTo>
                  <a:cubicBezTo>
                    <a:pt x="0" y="27160"/>
                    <a:pt x="27160" y="0"/>
                    <a:pt x="60662" y="0"/>
                  </a:cubicBezTo>
                  <a:close/>
                </a:path>
              </a:pathLst>
            </a:custGeom>
            <a:blipFill>
              <a:blip r:embed="rId2"/>
              <a:stretch>
                <a:fillRect l="-175" t="0" r="-175" b="0"/>
              </a:stretch>
            </a:blipFill>
          </p:spPr>
        </p:sp>
      </p:grpSp>
      <p:grpSp>
        <p:nvGrpSpPr>
          <p:cNvPr name="Group 10" id="10"/>
          <p:cNvGrpSpPr/>
          <p:nvPr/>
        </p:nvGrpSpPr>
        <p:grpSpPr>
          <a:xfrm rot="0">
            <a:off x="10158033" y="1313704"/>
            <a:ext cx="3445818" cy="3625608"/>
            <a:chOff x="0" y="0"/>
            <a:chExt cx="533847" cy="561702"/>
          </a:xfrm>
        </p:grpSpPr>
        <p:sp>
          <p:nvSpPr>
            <p:cNvPr name="Freeform 11" id="11"/>
            <p:cNvSpPr/>
            <p:nvPr/>
          </p:nvSpPr>
          <p:spPr>
            <a:xfrm flipH="false" flipV="false" rot="0">
              <a:off x="0" y="0"/>
              <a:ext cx="533847" cy="561702"/>
            </a:xfrm>
            <a:custGeom>
              <a:avLst/>
              <a:gdLst/>
              <a:ahLst/>
              <a:cxnLst/>
              <a:rect r="r" b="b" t="t" l="l"/>
              <a:pathLst>
                <a:path h="561702" w="533847">
                  <a:moveTo>
                    <a:pt x="60662" y="0"/>
                  </a:moveTo>
                  <a:lnTo>
                    <a:pt x="473185" y="0"/>
                  </a:lnTo>
                  <a:cubicBezTo>
                    <a:pt x="506688" y="0"/>
                    <a:pt x="533847" y="27160"/>
                    <a:pt x="533847" y="60662"/>
                  </a:cubicBezTo>
                  <a:lnTo>
                    <a:pt x="533847" y="501039"/>
                  </a:lnTo>
                  <a:cubicBezTo>
                    <a:pt x="533847" y="534542"/>
                    <a:pt x="506688" y="561702"/>
                    <a:pt x="473185" y="561702"/>
                  </a:cubicBezTo>
                  <a:lnTo>
                    <a:pt x="60662" y="561702"/>
                  </a:lnTo>
                  <a:cubicBezTo>
                    <a:pt x="27160" y="561702"/>
                    <a:pt x="0" y="534542"/>
                    <a:pt x="0" y="501039"/>
                  </a:cubicBezTo>
                  <a:lnTo>
                    <a:pt x="0" y="60662"/>
                  </a:lnTo>
                  <a:cubicBezTo>
                    <a:pt x="0" y="27160"/>
                    <a:pt x="27160" y="0"/>
                    <a:pt x="60662" y="0"/>
                  </a:cubicBezTo>
                  <a:close/>
                </a:path>
              </a:pathLst>
            </a:custGeom>
            <a:blipFill>
              <a:blip r:embed="rId3"/>
              <a:stretch>
                <a:fillRect l="-175" t="0" r="-175" b="0"/>
              </a:stretch>
            </a:blipFill>
          </p:spPr>
        </p:sp>
      </p:grpSp>
      <p:sp>
        <p:nvSpPr>
          <p:cNvPr name="TextBox 12" id="12"/>
          <p:cNvSpPr txBox="true"/>
          <p:nvPr/>
        </p:nvSpPr>
        <p:spPr>
          <a:xfrm rot="0">
            <a:off x="1451499" y="4218811"/>
            <a:ext cx="5134857" cy="1778017"/>
          </a:xfrm>
          <a:prstGeom prst="rect">
            <a:avLst/>
          </a:prstGeom>
        </p:spPr>
        <p:txBody>
          <a:bodyPr anchor="t" rtlCol="false" tIns="0" lIns="0" bIns="0" rIns="0">
            <a:spAutoFit/>
          </a:bodyPr>
          <a:lstStyle/>
          <a:p>
            <a:pPr algn="l" marL="0" indent="0" lvl="0">
              <a:lnSpc>
                <a:spcPts val="6999"/>
              </a:lnSpc>
            </a:pPr>
            <a:r>
              <a:rPr lang="en-US" sz="4999">
                <a:solidFill>
                  <a:srgbClr val="FFFFFF"/>
                </a:solidFill>
                <a:latin typeface="Poppins"/>
                <a:ea typeface="Poppins"/>
                <a:cs typeface="Poppins"/>
                <a:sym typeface="Poppins"/>
              </a:rPr>
              <a:t>Platform</a:t>
            </a:r>
          </a:p>
          <a:p>
            <a:pPr algn="l" marL="0" indent="0" lvl="0">
              <a:lnSpc>
                <a:spcPts val="6999"/>
              </a:lnSpc>
            </a:pPr>
            <a:r>
              <a:rPr lang="en-US" sz="4999">
                <a:solidFill>
                  <a:srgbClr val="FFFFFF"/>
                </a:solidFill>
                <a:latin typeface="Poppins"/>
                <a:ea typeface="Poppins"/>
                <a:cs typeface="Poppins"/>
                <a:sym typeface="Poppins"/>
              </a:rPr>
              <a:t>Architecture</a:t>
            </a:r>
          </a:p>
        </p:txBody>
      </p:sp>
      <p:sp>
        <p:nvSpPr>
          <p:cNvPr name="TextBox 13" id="13"/>
          <p:cNvSpPr txBox="true"/>
          <p:nvPr/>
        </p:nvSpPr>
        <p:spPr>
          <a:xfrm rot="0">
            <a:off x="6677664" y="5611854"/>
            <a:ext cx="2823023" cy="238436"/>
          </a:xfrm>
          <a:prstGeom prst="rect">
            <a:avLst/>
          </a:prstGeom>
        </p:spPr>
        <p:txBody>
          <a:bodyPr anchor="t" rtlCol="false" tIns="0" lIns="0" bIns="0" rIns="0">
            <a:spAutoFit/>
          </a:bodyPr>
          <a:lstStyle/>
          <a:p>
            <a:pPr algn="l" marL="0" indent="0" lvl="0">
              <a:lnSpc>
                <a:spcPts val="1813"/>
              </a:lnSpc>
            </a:pPr>
            <a:r>
              <a:rPr lang="en-US" b="true" sz="1451" spc="110">
                <a:solidFill>
                  <a:srgbClr val="283B44"/>
                </a:solidFill>
                <a:latin typeface="Poppins Bold"/>
                <a:ea typeface="Poppins Bold"/>
                <a:cs typeface="Poppins Bold"/>
                <a:sym typeface="Poppins Bold"/>
              </a:rPr>
              <a:t>Loan Origination System</a:t>
            </a:r>
          </a:p>
        </p:txBody>
      </p:sp>
      <p:sp>
        <p:nvSpPr>
          <p:cNvPr name="TextBox 14" id="14"/>
          <p:cNvSpPr txBox="true"/>
          <p:nvPr/>
        </p:nvSpPr>
        <p:spPr>
          <a:xfrm rot="0">
            <a:off x="10526580" y="5611854"/>
            <a:ext cx="2823023" cy="468499"/>
          </a:xfrm>
          <a:prstGeom prst="rect">
            <a:avLst/>
          </a:prstGeom>
        </p:spPr>
        <p:txBody>
          <a:bodyPr anchor="t" rtlCol="false" tIns="0" lIns="0" bIns="0" rIns="0">
            <a:spAutoFit/>
          </a:bodyPr>
          <a:lstStyle/>
          <a:p>
            <a:pPr algn="l" marL="0" indent="0" lvl="0">
              <a:lnSpc>
                <a:spcPts val="1813"/>
              </a:lnSpc>
            </a:pPr>
            <a:r>
              <a:rPr lang="en-US" b="true" sz="1451" spc="110">
                <a:solidFill>
                  <a:srgbClr val="283B44"/>
                </a:solidFill>
                <a:latin typeface="Poppins Bold"/>
                <a:ea typeface="Poppins Bold"/>
                <a:cs typeface="Poppins Bold"/>
                <a:sym typeface="Poppins Bold"/>
              </a:rPr>
              <a:t>Loan Management System</a:t>
            </a:r>
          </a:p>
        </p:txBody>
      </p:sp>
      <p:sp>
        <p:nvSpPr>
          <p:cNvPr name="TextBox 15" id="15"/>
          <p:cNvSpPr txBox="true"/>
          <p:nvPr/>
        </p:nvSpPr>
        <p:spPr>
          <a:xfrm rot="0">
            <a:off x="6677664" y="6105748"/>
            <a:ext cx="2555220" cy="1725930"/>
          </a:xfrm>
          <a:prstGeom prst="rect">
            <a:avLst/>
          </a:prstGeom>
        </p:spPr>
        <p:txBody>
          <a:bodyPr anchor="t" rtlCol="false" tIns="0" lIns="0" bIns="0" rIns="0">
            <a:spAutoFit/>
          </a:bodyPr>
          <a:lstStyle/>
          <a:p>
            <a:pPr algn="l" marL="0" indent="0" lvl="0">
              <a:lnSpc>
                <a:spcPts val="1500"/>
              </a:lnSpc>
            </a:pPr>
            <a:r>
              <a:rPr lang="en-US" sz="1200" spc="15">
                <a:solidFill>
                  <a:srgbClr val="283B44"/>
                </a:solidFill>
                <a:latin typeface="DM Sans"/>
                <a:ea typeface="DM Sans"/>
                <a:cs typeface="DM Sans"/>
                <a:sym typeface="DM Sans"/>
              </a:rPr>
              <a:t>The LOS module orchestrates the full borrower onboarding lifecycle — KYC/AML verification, collateral valuation, credit decisioning, and smart contract-based loan agreement execution. Configurable underwriting rules enable rapid product deployment across multiple crypto asset classes.</a:t>
            </a:r>
          </a:p>
        </p:txBody>
      </p:sp>
      <p:sp>
        <p:nvSpPr>
          <p:cNvPr name="TextBox 16" id="16"/>
          <p:cNvSpPr txBox="true"/>
          <p:nvPr/>
        </p:nvSpPr>
        <p:spPr>
          <a:xfrm rot="0">
            <a:off x="10526580" y="6105748"/>
            <a:ext cx="2555220" cy="1916430"/>
          </a:xfrm>
          <a:prstGeom prst="rect">
            <a:avLst/>
          </a:prstGeom>
        </p:spPr>
        <p:txBody>
          <a:bodyPr anchor="t" rtlCol="false" tIns="0" lIns="0" bIns="0" rIns="0">
            <a:spAutoFit/>
          </a:bodyPr>
          <a:lstStyle/>
          <a:p>
            <a:pPr algn="l" marL="0" indent="0" lvl="0">
              <a:lnSpc>
                <a:spcPts val="1500"/>
              </a:lnSpc>
            </a:pPr>
            <a:r>
              <a:rPr lang="en-US" sz="1200" spc="15">
                <a:solidFill>
                  <a:srgbClr val="283B44"/>
                </a:solidFill>
                <a:latin typeface="DM Sans"/>
                <a:ea typeface="DM Sans"/>
                <a:cs typeface="DM Sans"/>
                <a:sym typeface="DM Sans"/>
              </a:rPr>
              <a:t>The LMS engine manages post-disbursement loan operations including real-time collateral monitoring, automated margin call triggers, interest accrual, repayment scheduling, and liquidation workflows. Built-in LTV ratio enforcement ensures continuous portfolio risk compliance.</a:t>
            </a:r>
          </a:p>
        </p:txBody>
      </p:sp>
      <p:grpSp>
        <p:nvGrpSpPr>
          <p:cNvPr name="Group 17" id="17"/>
          <p:cNvGrpSpPr/>
          <p:nvPr/>
        </p:nvGrpSpPr>
        <p:grpSpPr>
          <a:xfrm rot="0">
            <a:off x="14006949" y="4224240"/>
            <a:ext cx="3445818" cy="4749056"/>
            <a:chOff x="0" y="0"/>
            <a:chExt cx="907540" cy="1250780"/>
          </a:xfrm>
        </p:grpSpPr>
        <p:sp>
          <p:nvSpPr>
            <p:cNvPr name="Freeform 18" id="18"/>
            <p:cNvSpPr/>
            <p:nvPr/>
          </p:nvSpPr>
          <p:spPr>
            <a:xfrm flipH="false" flipV="false" rot="0">
              <a:off x="0" y="0"/>
              <a:ext cx="907540" cy="1250780"/>
            </a:xfrm>
            <a:custGeom>
              <a:avLst/>
              <a:gdLst/>
              <a:ahLst/>
              <a:cxnLst/>
              <a:rect r="r" b="b" t="t" l="l"/>
              <a:pathLst>
                <a:path h="1250780" w="907540">
                  <a:moveTo>
                    <a:pt x="71896" y="0"/>
                  </a:moveTo>
                  <a:lnTo>
                    <a:pt x="835644" y="0"/>
                  </a:lnTo>
                  <a:cubicBezTo>
                    <a:pt x="875351" y="0"/>
                    <a:pt x="907540" y="32189"/>
                    <a:pt x="907540" y="71896"/>
                  </a:cubicBezTo>
                  <a:lnTo>
                    <a:pt x="907540" y="1178884"/>
                  </a:lnTo>
                  <a:cubicBezTo>
                    <a:pt x="907540" y="1197952"/>
                    <a:pt x="899966" y="1216239"/>
                    <a:pt x="886483" y="1229722"/>
                  </a:cubicBezTo>
                  <a:cubicBezTo>
                    <a:pt x="872999" y="1243205"/>
                    <a:pt x="854712" y="1250780"/>
                    <a:pt x="835644" y="1250780"/>
                  </a:cubicBezTo>
                  <a:lnTo>
                    <a:pt x="71896" y="1250780"/>
                  </a:lnTo>
                  <a:cubicBezTo>
                    <a:pt x="52828" y="1250780"/>
                    <a:pt x="34541" y="1243205"/>
                    <a:pt x="21058" y="1229722"/>
                  </a:cubicBezTo>
                  <a:cubicBezTo>
                    <a:pt x="7575" y="1216239"/>
                    <a:pt x="0" y="1197952"/>
                    <a:pt x="0" y="1178884"/>
                  </a:cubicBezTo>
                  <a:lnTo>
                    <a:pt x="0" y="71896"/>
                  </a:lnTo>
                  <a:cubicBezTo>
                    <a:pt x="0" y="52828"/>
                    <a:pt x="7575" y="34541"/>
                    <a:pt x="21058" y="21058"/>
                  </a:cubicBezTo>
                  <a:cubicBezTo>
                    <a:pt x="34541" y="7575"/>
                    <a:pt x="52828" y="0"/>
                    <a:pt x="71896" y="0"/>
                  </a:cubicBezTo>
                  <a:close/>
                </a:path>
              </a:pathLst>
            </a:custGeom>
            <a:solidFill>
              <a:srgbClr val="FFFFFF"/>
            </a:solidFill>
          </p:spPr>
        </p:sp>
        <p:sp>
          <p:nvSpPr>
            <p:cNvPr name="TextBox 19" id="19"/>
            <p:cNvSpPr txBox="true"/>
            <p:nvPr/>
          </p:nvSpPr>
          <p:spPr>
            <a:xfrm>
              <a:off x="0" y="-266700"/>
              <a:ext cx="907540" cy="1517480"/>
            </a:xfrm>
            <a:prstGeom prst="rect">
              <a:avLst/>
            </a:prstGeom>
          </p:spPr>
          <p:txBody>
            <a:bodyPr anchor="ctr" rtlCol="false" tIns="50800" lIns="50800" bIns="50800" rIns="50800"/>
            <a:lstStyle/>
            <a:p>
              <a:pPr algn="ctr" marL="0" indent="0" lvl="0">
                <a:lnSpc>
                  <a:spcPts val="4905"/>
                </a:lnSpc>
              </a:pPr>
            </a:p>
          </p:txBody>
        </p:sp>
      </p:grpSp>
      <p:grpSp>
        <p:nvGrpSpPr>
          <p:cNvPr name="Group 20" id="20"/>
          <p:cNvGrpSpPr/>
          <p:nvPr/>
        </p:nvGrpSpPr>
        <p:grpSpPr>
          <a:xfrm rot="0">
            <a:off x="14006949" y="1313704"/>
            <a:ext cx="3445818" cy="3625608"/>
            <a:chOff x="0" y="0"/>
            <a:chExt cx="533847" cy="561702"/>
          </a:xfrm>
        </p:grpSpPr>
        <p:sp>
          <p:nvSpPr>
            <p:cNvPr name="Freeform 21" id="21"/>
            <p:cNvSpPr/>
            <p:nvPr/>
          </p:nvSpPr>
          <p:spPr>
            <a:xfrm flipH="false" flipV="false" rot="0">
              <a:off x="0" y="0"/>
              <a:ext cx="533847" cy="561702"/>
            </a:xfrm>
            <a:custGeom>
              <a:avLst/>
              <a:gdLst/>
              <a:ahLst/>
              <a:cxnLst/>
              <a:rect r="r" b="b" t="t" l="l"/>
              <a:pathLst>
                <a:path h="561702" w="533847">
                  <a:moveTo>
                    <a:pt x="60662" y="0"/>
                  </a:moveTo>
                  <a:lnTo>
                    <a:pt x="473185" y="0"/>
                  </a:lnTo>
                  <a:cubicBezTo>
                    <a:pt x="506688" y="0"/>
                    <a:pt x="533847" y="27160"/>
                    <a:pt x="533847" y="60662"/>
                  </a:cubicBezTo>
                  <a:lnTo>
                    <a:pt x="533847" y="501039"/>
                  </a:lnTo>
                  <a:cubicBezTo>
                    <a:pt x="533847" y="534542"/>
                    <a:pt x="506688" y="561702"/>
                    <a:pt x="473185" y="561702"/>
                  </a:cubicBezTo>
                  <a:lnTo>
                    <a:pt x="60662" y="561702"/>
                  </a:lnTo>
                  <a:cubicBezTo>
                    <a:pt x="27160" y="561702"/>
                    <a:pt x="0" y="534542"/>
                    <a:pt x="0" y="501039"/>
                  </a:cubicBezTo>
                  <a:lnTo>
                    <a:pt x="0" y="60662"/>
                  </a:lnTo>
                  <a:cubicBezTo>
                    <a:pt x="0" y="27160"/>
                    <a:pt x="27160" y="0"/>
                    <a:pt x="60662" y="0"/>
                  </a:cubicBezTo>
                  <a:close/>
                </a:path>
              </a:pathLst>
            </a:custGeom>
            <a:blipFill>
              <a:blip r:embed="rId4"/>
              <a:stretch>
                <a:fillRect l="-175" t="0" r="-175" b="0"/>
              </a:stretch>
            </a:blipFill>
          </p:spPr>
        </p:sp>
      </p:grpSp>
      <p:sp>
        <p:nvSpPr>
          <p:cNvPr name="TextBox 22" id="22"/>
          <p:cNvSpPr txBox="true"/>
          <p:nvPr/>
        </p:nvSpPr>
        <p:spPr>
          <a:xfrm rot="0">
            <a:off x="14375497" y="5587727"/>
            <a:ext cx="2823023" cy="468499"/>
          </a:xfrm>
          <a:prstGeom prst="rect">
            <a:avLst/>
          </a:prstGeom>
        </p:spPr>
        <p:txBody>
          <a:bodyPr anchor="t" rtlCol="false" tIns="0" lIns="0" bIns="0" rIns="0">
            <a:spAutoFit/>
          </a:bodyPr>
          <a:lstStyle/>
          <a:p>
            <a:pPr algn="l" marL="0" indent="0" lvl="0">
              <a:lnSpc>
                <a:spcPts val="1813"/>
              </a:lnSpc>
            </a:pPr>
            <a:r>
              <a:rPr lang="en-US" b="true" sz="1451" spc="110">
                <a:solidFill>
                  <a:srgbClr val="283B44"/>
                </a:solidFill>
                <a:latin typeface="Poppins Bold"/>
                <a:ea typeface="Poppins Bold"/>
                <a:cs typeface="Poppins Bold"/>
                <a:sym typeface="Poppins Bold"/>
              </a:rPr>
              <a:t>Crypto &amp; Blockchain Layer</a:t>
            </a:r>
          </a:p>
        </p:txBody>
      </p:sp>
      <p:sp>
        <p:nvSpPr>
          <p:cNvPr name="TextBox 23" id="23"/>
          <p:cNvSpPr txBox="true"/>
          <p:nvPr/>
        </p:nvSpPr>
        <p:spPr>
          <a:xfrm rot="0">
            <a:off x="14375497" y="6210523"/>
            <a:ext cx="2555220" cy="1725930"/>
          </a:xfrm>
          <a:prstGeom prst="rect">
            <a:avLst/>
          </a:prstGeom>
        </p:spPr>
        <p:txBody>
          <a:bodyPr anchor="t" rtlCol="false" tIns="0" lIns="0" bIns="0" rIns="0">
            <a:spAutoFit/>
          </a:bodyPr>
          <a:lstStyle/>
          <a:p>
            <a:pPr algn="l" marL="0" indent="0" lvl="0">
              <a:lnSpc>
                <a:spcPts val="1500"/>
              </a:lnSpc>
            </a:pPr>
            <a:r>
              <a:rPr lang="en-US" sz="1200" spc="15">
                <a:solidFill>
                  <a:srgbClr val="283B44"/>
                </a:solidFill>
                <a:latin typeface="DM Sans"/>
                <a:ea typeface="DM Sans"/>
                <a:cs typeface="DM Sans"/>
                <a:sym typeface="DM Sans"/>
              </a:rPr>
              <a:t>Institutional-grade multi-sig custody integrations (Fireblocks, BitGo) secure collateral assets. On-chain smart contracts govern collateral locking, release, and liquidation events. Native wallet infrastructure supports BTC, ETH, and ERC-20 tokens with real-time price oracle feeds.</a:t>
            </a:r>
          </a:p>
        </p:txBody>
      </p:sp>
      <p:sp>
        <p:nvSpPr>
          <p:cNvPr name="Freeform 24" id="24"/>
          <p:cNvSpPr/>
          <p:nvPr/>
        </p:nvSpPr>
        <p:spPr>
          <a:xfrm flipH="false" flipV="false" rot="5400000">
            <a:off x="15889328" y="-38100"/>
            <a:ext cx="2436772" cy="2436772"/>
          </a:xfrm>
          <a:custGeom>
            <a:avLst/>
            <a:gdLst/>
            <a:ahLst/>
            <a:cxnLst/>
            <a:rect r="r" b="b" t="t" l="l"/>
            <a:pathLst>
              <a:path h="2436772" w="2436772">
                <a:moveTo>
                  <a:pt x="0" y="0"/>
                </a:moveTo>
                <a:lnTo>
                  <a:pt x="2436772" y="0"/>
                </a:lnTo>
                <a:lnTo>
                  <a:pt x="2436772" y="2436772"/>
                </a:lnTo>
                <a:lnTo>
                  <a:pt x="0" y="24367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5" id="25"/>
          <p:cNvSpPr/>
          <p:nvPr/>
        </p:nvSpPr>
        <p:spPr>
          <a:xfrm flipH="false" flipV="false" rot="-5400000">
            <a:off x="-19050" y="7878803"/>
            <a:ext cx="2436772" cy="2436772"/>
          </a:xfrm>
          <a:custGeom>
            <a:avLst/>
            <a:gdLst/>
            <a:ahLst/>
            <a:cxnLst/>
            <a:rect r="r" b="b" t="t" l="l"/>
            <a:pathLst>
              <a:path h="2436772" w="2436772">
                <a:moveTo>
                  <a:pt x="0" y="0"/>
                </a:moveTo>
                <a:lnTo>
                  <a:pt x="2436772" y="0"/>
                </a:lnTo>
                <a:lnTo>
                  <a:pt x="2436772" y="2436772"/>
                </a:lnTo>
                <a:lnTo>
                  <a:pt x="0" y="24367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83B44"/>
        </a:solidFill>
      </p:bgPr>
    </p:bg>
    <p:spTree>
      <p:nvGrpSpPr>
        <p:cNvPr id="1" name=""/>
        <p:cNvGrpSpPr/>
        <p:nvPr/>
      </p:nvGrpSpPr>
      <p:grpSpPr>
        <a:xfrm>
          <a:off x="0" y="0"/>
          <a:ext cx="0" cy="0"/>
          <a:chOff x="0" y="0"/>
          <a:chExt cx="0" cy="0"/>
        </a:xfrm>
      </p:grpSpPr>
      <p:grpSp>
        <p:nvGrpSpPr>
          <p:cNvPr name="Group 2" id="2"/>
          <p:cNvGrpSpPr/>
          <p:nvPr/>
        </p:nvGrpSpPr>
        <p:grpSpPr>
          <a:xfrm rot="0">
            <a:off x="12964506" y="-1156407"/>
            <a:ext cx="6886646" cy="7069097"/>
            <a:chOff x="0" y="0"/>
            <a:chExt cx="1813767" cy="1861820"/>
          </a:xfrm>
        </p:grpSpPr>
        <p:sp>
          <p:nvSpPr>
            <p:cNvPr name="Freeform 3" id="3"/>
            <p:cNvSpPr/>
            <p:nvPr/>
          </p:nvSpPr>
          <p:spPr>
            <a:xfrm flipH="false" flipV="false" rot="0">
              <a:off x="0" y="0"/>
              <a:ext cx="1813767" cy="1861820"/>
            </a:xfrm>
            <a:custGeom>
              <a:avLst/>
              <a:gdLst/>
              <a:ahLst/>
              <a:cxnLst/>
              <a:rect r="r" b="b" t="t" l="l"/>
              <a:pathLst>
                <a:path h="1861820" w="1813767">
                  <a:moveTo>
                    <a:pt x="0" y="0"/>
                  </a:moveTo>
                  <a:lnTo>
                    <a:pt x="1813767" y="0"/>
                  </a:lnTo>
                  <a:lnTo>
                    <a:pt x="1813767" y="1861820"/>
                  </a:lnTo>
                  <a:lnTo>
                    <a:pt x="0" y="1861820"/>
                  </a:lnTo>
                  <a:close/>
                </a:path>
              </a:pathLst>
            </a:custGeom>
            <a:solidFill>
              <a:srgbClr val="FFFFFF"/>
            </a:solidFill>
          </p:spPr>
        </p:sp>
        <p:sp>
          <p:nvSpPr>
            <p:cNvPr name="TextBox 4" id="4"/>
            <p:cNvSpPr txBox="true"/>
            <p:nvPr/>
          </p:nvSpPr>
          <p:spPr>
            <a:xfrm>
              <a:off x="0" y="-76200"/>
              <a:ext cx="1813767" cy="1938020"/>
            </a:xfrm>
            <a:prstGeom prst="rect">
              <a:avLst/>
            </a:prstGeom>
          </p:spPr>
          <p:txBody>
            <a:bodyPr anchor="ctr" rtlCol="false" tIns="50800" lIns="50800" bIns="50800" rIns="50800"/>
            <a:lstStyle/>
            <a:p>
              <a:pPr algn="ctr" marL="0" indent="0" lvl="0">
                <a:lnSpc>
                  <a:spcPts val="2921"/>
                </a:lnSpc>
              </a:pPr>
            </a:p>
          </p:txBody>
        </p:sp>
      </p:grpSp>
      <p:sp>
        <p:nvSpPr>
          <p:cNvPr name="TextBox 5" id="5"/>
          <p:cNvSpPr txBox="true"/>
          <p:nvPr/>
        </p:nvSpPr>
        <p:spPr>
          <a:xfrm rot="0">
            <a:off x="1374239" y="1550778"/>
            <a:ext cx="9963616" cy="483047"/>
          </a:xfrm>
          <a:prstGeom prst="rect">
            <a:avLst/>
          </a:prstGeom>
        </p:spPr>
        <p:txBody>
          <a:bodyPr anchor="t" rtlCol="false" tIns="0" lIns="0" bIns="0" rIns="0">
            <a:spAutoFit/>
          </a:bodyPr>
          <a:lstStyle/>
          <a:p>
            <a:pPr algn="l" marL="0" indent="0" lvl="0">
              <a:lnSpc>
                <a:spcPts val="3496"/>
              </a:lnSpc>
            </a:pPr>
            <a:r>
              <a:rPr lang="en-US" sz="3237">
                <a:solidFill>
                  <a:srgbClr val="FFFFFF"/>
                </a:solidFill>
                <a:latin typeface="Poppins"/>
                <a:ea typeface="Poppins"/>
                <a:cs typeface="Poppins"/>
                <a:sym typeface="Poppins"/>
              </a:rPr>
              <a:t>End-to-End Lending Lifecycle</a:t>
            </a:r>
          </a:p>
        </p:txBody>
      </p:sp>
      <p:sp>
        <p:nvSpPr>
          <p:cNvPr name="TextBox 6" id="6"/>
          <p:cNvSpPr txBox="true"/>
          <p:nvPr/>
        </p:nvSpPr>
        <p:spPr>
          <a:xfrm rot="0">
            <a:off x="1183588" y="3792535"/>
            <a:ext cx="381301" cy="209643"/>
          </a:xfrm>
          <a:prstGeom prst="rect">
            <a:avLst/>
          </a:prstGeom>
        </p:spPr>
        <p:txBody>
          <a:bodyPr anchor="t" rtlCol="false" tIns="0" lIns="0" bIns="0" rIns="0">
            <a:spAutoFit/>
          </a:bodyPr>
          <a:lstStyle/>
          <a:p>
            <a:pPr algn="ctr" marL="0" indent="0" lvl="0">
              <a:lnSpc>
                <a:spcPts val="1555"/>
              </a:lnSpc>
            </a:pPr>
            <a:r>
              <a:rPr lang="en-US" sz="1440">
                <a:solidFill>
                  <a:srgbClr val="FFFFFF"/>
                </a:solidFill>
                <a:latin typeface="Poppins"/>
                <a:ea typeface="Poppins"/>
                <a:cs typeface="Poppins"/>
                <a:sym typeface="Poppins"/>
              </a:rPr>
              <a:t>1</a:t>
            </a:r>
          </a:p>
        </p:txBody>
      </p:sp>
      <p:sp>
        <p:nvSpPr>
          <p:cNvPr name="TextBox 7" id="7"/>
          <p:cNvSpPr txBox="true"/>
          <p:nvPr/>
        </p:nvSpPr>
        <p:spPr>
          <a:xfrm rot="0">
            <a:off x="1985975" y="3773485"/>
            <a:ext cx="3873816" cy="223471"/>
          </a:xfrm>
          <a:prstGeom prst="rect">
            <a:avLst/>
          </a:prstGeom>
        </p:spPr>
        <p:txBody>
          <a:bodyPr anchor="t" rtlCol="false" tIns="0" lIns="0" bIns="0" rIns="0">
            <a:spAutoFit/>
          </a:bodyPr>
          <a:lstStyle/>
          <a:p>
            <a:pPr algn="l" marL="0" indent="0" lvl="0">
              <a:lnSpc>
                <a:spcPts val="1661"/>
              </a:lnSpc>
            </a:pPr>
            <a:r>
              <a:rPr lang="en-US" sz="1538">
                <a:solidFill>
                  <a:srgbClr val="FFFFFF"/>
                </a:solidFill>
                <a:latin typeface="Poppins"/>
                <a:ea typeface="Poppins"/>
                <a:cs typeface="Poppins"/>
                <a:sym typeface="Poppins"/>
              </a:rPr>
              <a:t>Borrower Onboarding &amp; KYC</a:t>
            </a:r>
          </a:p>
        </p:txBody>
      </p:sp>
      <p:sp>
        <p:nvSpPr>
          <p:cNvPr name="TextBox 8" id="8"/>
          <p:cNvSpPr txBox="true"/>
          <p:nvPr/>
        </p:nvSpPr>
        <p:spPr>
          <a:xfrm rot="0">
            <a:off x="1985975" y="4313523"/>
            <a:ext cx="4071756" cy="1190390"/>
          </a:xfrm>
          <a:prstGeom prst="rect">
            <a:avLst/>
          </a:prstGeom>
        </p:spPr>
        <p:txBody>
          <a:bodyPr anchor="t" rtlCol="false" tIns="0" lIns="0" bIns="0" rIns="0">
            <a:spAutoFit/>
          </a:bodyPr>
          <a:lstStyle/>
          <a:p>
            <a:pPr algn="l" marL="0" indent="0" lvl="0">
              <a:lnSpc>
                <a:spcPts val="1587"/>
              </a:lnSpc>
            </a:pPr>
            <a:r>
              <a:rPr lang="en-US" sz="1134" spc="85">
                <a:solidFill>
                  <a:srgbClr val="FFFFFF"/>
                </a:solidFill>
                <a:latin typeface="DM Sans"/>
                <a:ea typeface="DM Sans"/>
                <a:cs typeface="DM Sans"/>
                <a:sym typeface="DM Sans"/>
              </a:rPr>
              <a:t>Borrowers complete digital onboarding via web or API-integrated portals. Identity verification leverages blockchain-native KYC/AML protocols, wallet address screening, and on-chain transaction history analysis to ensure regulatory compliance and risk-appropriate borrower profiling from day one.</a:t>
            </a:r>
          </a:p>
        </p:txBody>
      </p:sp>
      <p:sp>
        <p:nvSpPr>
          <p:cNvPr name="TextBox 9" id="9"/>
          <p:cNvSpPr txBox="true"/>
          <p:nvPr/>
        </p:nvSpPr>
        <p:spPr>
          <a:xfrm rot="0">
            <a:off x="1183588" y="6558500"/>
            <a:ext cx="381301" cy="209643"/>
          </a:xfrm>
          <a:prstGeom prst="rect">
            <a:avLst/>
          </a:prstGeom>
        </p:spPr>
        <p:txBody>
          <a:bodyPr anchor="t" rtlCol="false" tIns="0" lIns="0" bIns="0" rIns="0">
            <a:spAutoFit/>
          </a:bodyPr>
          <a:lstStyle/>
          <a:p>
            <a:pPr algn="ctr" marL="0" indent="0" lvl="0">
              <a:lnSpc>
                <a:spcPts val="1555"/>
              </a:lnSpc>
            </a:pPr>
            <a:r>
              <a:rPr lang="en-US" sz="1440">
                <a:solidFill>
                  <a:srgbClr val="FFFFFF"/>
                </a:solidFill>
                <a:latin typeface="Poppins"/>
                <a:ea typeface="Poppins"/>
                <a:cs typeface="Poppins"/>
                <a:sym typeface="Poppins"/>
              </a:rPr>
              <a:t>3</a:t>
            </a:r>
          </a:p>
        </p:txBody>
      </p:sp>
      <p:sp>
        <p:nvSpPr>
          <p:cNvPr name="TextBox 10" id="10"/>
          <p:cNvSpPr txBox="true"/>
          <p:nvPr/>
        </p:nvSpPr>
        <p:spPr>
          <a:xfrm rot="0">
            <a:off x="1985975" y="6539450"/>
            <a:ext cx="4163048" cy="223471"/>
          </a:xfrm>
          <a:prstGeom prst="rect">
            <a:avLst/>
          </a:prstGeom>
        </p:spPr>
        <p:txBody>
          <a:bodyPr anchor="t" rtlCol="false" tIns="0" lIns="0" bIns="0" rIns="0">
            <a:spAutoFit/>
          </a:bodyPr>
          <a:lstStyle/>
          <a:p>
            <a:pPr algn="l" marL="0" indent="0" lvl="0">
              <a:lnSpc>
                <a:spcPts val="1661"/>
              </a:lnSpc>
            </a:pPr>
            <a:r>
              <a:rPr lang="en-US" sz="1538">
                <a:solidFill>
                  <a:srgbClr val="FFFFFF"/>
                </a:solidFill>
                <a:latin typeface="Poppins"/>
                <a:ea typeface="Poppins"/>
                <a:cs typeface="Poppins"/>
                <a:sym typeface="Poppins"/>
              </a:rPr>
              <a:t>Application &amp; Underwriting</a:t>
            </a:r>
          </a:p>
        </p:txBody>
      </p:sp>
      <p:sp>
        <p:nvSpPr>
          <p:cNvPr name="TextBox 11" id="11"/>
          <p:cNvSpPr txBox="true"/>
          <p:nvPr/>
        </p:nvSpPr>
        <p:spPr>
          <a:xfrm rot="0">
            <a:off x="1985975" y="7079488"/>
            <a:ext cx="4071756" cy="1190390"/>
          </a:xfrm>
          <a:prstGeom prst="rect">
            <a:avLst/>
          </a:prstGeom>
        </p:spPr>
        <p:txBody>
          <a:bodyPr anchor="t" rtlCol="false" tIns="0" lIns="0" bIns="0" rIns="0">
            <a:spAutoFit/>
          </a:bodyPr>
          <a:lstStyle/>
          <a:p>
            <a:pPr algn="l" marL="0" indent="0" lvl="0">
              <a:lnSpc>
                <a:spcPts val="1587"/>
              </a:lnSpc>
            </a:pPr>
            <a:r>
              <a:rPr lang="en-US" sz="1134" spc="85">
                <a:solidFill>
                  <a:srgbClr val="FFFFFF"/>
                </a:solidFill>
                <a:latin typeface="DM Sans"/>
                <a:ea typeface="DM Sans"/>
                <a:cs typeface="DM Sans"/>
                <a:sym typeface="DM Sans"/>
              </a:rPr>
              <a:t>Loan applications trigger automated credit decisioning engines that evaluate collateral-to-loan ratios, wallet health scores, and DeFi activity. The LOS module orchestrates rule-based and ML-driven underwriting, delivering real-time approval decisions with full audit trails for regulatory transparency.</a:t>
            </a:r>
          </a:p>
        </p:txBody>
      </p:sp>
      <p:sp>
        <p:nvSpPr>
          <p:cNvPr name="TextBox 12" id="12"/>
          <p:cNvSpPr txBox="true"/>
          <p:nvPr/>
        </p:nvSpPr>
        <p:spPr>
          <a:xfrm rot="0">
            <a:off x="6568122" y="3792535"/>
            <a:ext cx="381301" cy="209643"/>
          </a:xfrm>
          <a:prstGeom prst="rect">
            <a:avLst/>
          </a:prstGeom>
        </p:spPr>
        <p:txBody>
          <a:bodyPr anchor="t" rtlCol="false" tIns="0" lIns="0" bIns="0" rIns="0">
            <a:spAutoFit/>
          </a:bodyPr>
          <a:lstStyle/>
          <a:p>
            <a:pPr algn="ctr" marL="0" indent="0" lvl="0">
              <a:lnSpc>
                <a:spcPts val="1555"/>
              </a:lnSpc>
            </a:pPr>
            <a:r>
              <a:rPr lang="en-US" sz="1440">
                <a:solidFill>
                  <a:srgbClr val="FFFFFF"/>
                </a:solidFill>
                <a:latin typeface="Poppins"/>
                <a:ea typeface="Poppins"/>
                <a:cs typeface="Poppins"/>
                <a:sym typeface="Poppins"/>
              </a:rPr>
              <a:t>2</a:t>
            </a:r>
          </a:p>
        </p:txBody>
      </p:sp>
      <p:sp>
        <p:nvSpPr>
          <p:cNvPr name="TextBox 13" id="13"/>
          <p:cNvSpPr txBox="true"/>
          <p:nvPr/>
        </p:nvSpPr>
        <p:spPr>
          <a:xfrm rot="0">
            <a:off x="7370509" y="3773485"/>
            <a:ext cx="3751234" cy="223471"/>
          </a:xfrm>
          <a:prstGeom prst="rect">
            <a:avLst/>
          </a:prstGeom>
        </p:spPr>
        <p:txBody>
          <a:bodyPr anchor="t" rtlCol="false" tIns="0" lIns="0" bIns="0" rIns="0">
            <a:spAutoFit/>
          </a:bodyPr>
          <a:lstStyle/>
          <a:p>
            <a:pPr algn="l" marL="0" indent="0" lvl="0">
              <a:lnSpc>
                <a:spcPts val="1661"/>
              </a:lnSpc>
            </a:pPr>
            <a:r>
              <a:rPr lang="en-US" sz="1538">
                <a:solidFill>
                  <a:srgbClr val="FFFFFF"/>
                </a:solidFill>
                <a:latin typeface="Poppins"/>
                <a:ea typeface="Poppins"/>
                <a:cs typeface="Poppins"/>
                <a:sym typeface="Poppins"/>
              </a:rPr>
              <a:t>Approval, Funding &amp; Disbursement</a:t>
            </a:r>
          </a:p>
        </p:txBody>
      </p:sp>
      <p:sp>
        <p:nvSpPr>
          <p:cNvPr name="TextBox 14" id="14"/>
          <p:cNvSpPr txBox="true"/>
          <p:nvPr/>
        </p:nvSpPr>
        <p:spPr>
          <a:xfrm rot="0">
            <a:off x="7370509" y="4313523"/>
            <a:ext cx="3785093" cy="1390415"/>
          </a:xfrm>
          <a:prstGeom prst="rect">
            <a:avLst/>
          </a:prstGeom>
        </p:spPr>
        <p:txBody>
          <a:bodyPr anchor="t" rtlCol="false" tIns="0" lIns="0" bIns="0" rIns="0">
            <a:spAutoFit/>
          </a:bodyPr>
          <a:lstStyle/>
          <a:p>
            <a:pPr algn="l" marL="0" indent="0" lvl="0">
              <a:lnSpc>
                <a:spcPts val="1587"/>
              </a:lnSpc>
            </a:pPr>
            <a:r>
              <a:rPr lang="en-US" sz="1134" spc="85">
                <a:solidFill>
                  <a:srgbClr val="FFFFFF"/>
                </a:solidFill>
                <a:latin typeface="DM Sans"/>
                <a:ea typeface="DM Sans"/>
                <a:cs typeface="DM Sans"/>
                <a:sym typeface="DM Sans"/>
              </a:rPr>
              <a:t>Upon credit approval, smart contracts lock crypto collateral in escrow and trigger automated disbursement of stablecoin or fiat-equivalent funds. The LMS module manages loan booking, covenant enforcement, and real-time collateral monitoring with dynamic LTV rebalancing thresholds.</a:t>
            </a:r>
          </a:p>
        </p:txBody>
      </p:sp>
      <p:sp>
        <p:nvSpPr>
          <p:cNvPr name="TextBox 15" id="15"/>
          <p:cNvSpPr txBox="true"/>
          <p:nvPr/>
        </p:nvSpPr>
        <p:spPr>
          <a:xfrm rot="0">
            <a:off x="6568122" y="6558500"/>
            <a:ext cx="381301" cy="209643"/>
          </a:xfrm>
          <a:prstGeom prst="rect">
            <a:avLst/>
          </a:prstGeom>
        </p:spPr>
        <p:txBody>
          <a:bodyPr anchor="t" rtlCol="false" tIns="0" lIns="0" bIns="0" rIns="0">
            <a:spAutoFit/>
          </a:bodyPr>
          <a:lstStyle/>
          <a:p>
            <a:pPr algn="ctr" marL="0" indent="0" lvl="0">
              <a:lnSpc>
                <a:spcPts val="1555"/>
              </a:lnSpc>
            </a:pPr>
            <a:r>
              <a:rPr lang="en-US" sz="1440">
                <a:solidFill>
                  <a:srgbClr val="FFFFFF"/>
                </a:solidFill>
                <a:latin typeface="Poppins"/>
                <a:ea typeface="Poppins"/>
                <a:cs typeface="Poppins"/>
                <a:sym typeface="Poppins"/>
              </a:rPr>
              <a:t>4</a:t>
            </a:r>
          </a:p>
        </p:txBody>
      </p:sp>
      <p:sp>
        <p:nvSpPr>
          <p:cNvPr name="TextBox 16" id="16"/>
          <p:cNvSpPr txBox="true"/>
          <p:nvPr/>
        </p:nvSpPr>
        <p:spPr>
          <a:xfrm rot="0">
            <a:off x="7370509" y="6539450"/>
            <a:ext cx="3314244" cy="223471"/>
          </a:xfrm>
          <a:prstGeom prst="rect">
            <a:avLst/>
          </a:prstGeom>
        </p:spPr>
        <p:txBody>
          <a:bodyPr anchor="t" rtlCol="false" tIns="0" lIns="0" bIns="0" rIns="0">
            <a:spAutoFit/>
          </a:bodyPr>
          <a:lstStyle/>
          <a:p>
            <a:pPr algn="l" marL="0" indent="0" lvl="0">
              <a:lnSpc>
                <a:spcPts val="1661"/>
              </a:lnSpc>
            </a:pPr>
            <a:r>
              <a:rPr lang="en-US" sz="1538">
                <a:solidFill>
                  <a:srgbClr val="FFFFFF"/>
                </a:solidFill>
                <a:latin typeface="Poppins"/>
                <a:ea typeface="Poppins"/>
                <a:cs typeface="Poppins"/>
                <a:sym typeface="Poppins"/>
              </a:rPr>
              <a:t>Repayment, Collections &amp; Closure</a:t>
            </a:r>
          </a:p>
        </p:txBody>
      </p:sp>
      <p:sp>
        <p:nvSpPr>
          <p:cNvPr name="TextBox 17" id="17"/>
          <p:cNvSpPr txBox="true"/>
          <p:nvPr/>
        </p:nvSpPr>
        <p:spPr>
          <a:xfrm rot="0">
            <a:off x="7370509" y="7079488"/>
            <a:ext cx="3785093" cy="1390415"/>
          </a:xfrm>
          <a:prstGeom prst="rect">
            <a:avLst/>
          </a:prstGeom>
        </p:spPr>
        <p:txBody>
          <a:bodyPr anchor="t" rtlCol="false" tIns="0" lIns="0" bIns="0" rIns="0">
            <a:spAutoFit/>
          </a:bodyPr>
          <a:lstStyle/>
          <a:p>
            <a:pPr algn="l" marL="0" indent="0" lvl="0">
              <a:lnSpc>
                <a:spcPts val="1587"/>
              </a:lnSpc>
            </a:pPr>
            <a:r>
              <a:rPr lang="en-US" sz="1134" spc="85">
                <a:solidFill>
                  <a:srgbClr val="FFFFFF"/>
                </a:solidFill>
                <a:latin typeface="DM Sans"/>
                <a:ea typeface="DM Sans"/>
                <a:cs typeface="DM Sans"/>
                <a:sym typeface="DM Sans"/>
              </a:rPr>
              <a:t>Automated repayment schedules, interest accrual, and prepayment handling are managed natively within the LMS. Delinquency workflows trigger escalating collections protocols, including collateral liquidation at breach thresholds, ensuring capital protection and clean loan closure with full reporting.</a:t>
            </a:r>
          </a:p>
        </p:txBody>
      </p:sp>
      <p:grpSp>
        <p:nvGrpSpPr>
          <p:cNvPr name="Group 18" id="18"/>
          <p:cNvGrpSpPr/>
          <p:nvPr/>
        </p:nvGrpSpPr>
        <p:grpSpPr>
          <a:xfrm rot="0">
            <a:off x="11761243" y="1758641"/>
            <a:ext cx="5719924" cy="6692213"/>
            <a:chOff x="0" y="0"/>
            <a:chExt cx="1027690" cy="1202380"/>
          </a:xfrm>
        </p:grpSpPr>
        <p:sp>
          <p:nvSpPr>
            <p:cNvPr name="Freeform 19" id="19"/>
            <p:cNvSpPr/>
            <p:nvPr/>
          </p:nvSpPr>
          <p:spPr>
            <a:xfrm flipH="false" flipV="false" rot="0">
              <a:off x="0" y="0"/>
              <a:ext cx="1027690" cy="1202380"/>
            </a:xfrm>
            <a:custGeom>
              <a:avLst/>
              <a:gdLst/>
              <a:ahLst/>
              <a:cxnLst/>
              <a:rect r="r" b="b" t="t" l="l"/>
              <a:pathLst>
                <a:path h="1202380" w="1027690">
                  <a:moveTo>
                    <a:pt x="135350" y="0"/>
                  </a:moveTo>
                  <a:lnTo>
                    <a:pt x="892340" y="0"/>
                  </a:lnTo>
                  <a:cubicBezTo>
                    <a:pt x="967092" y="0"/>
                    <a:pt x="1027690" y="60598"/>
                    <a:pt x="1027690" y="135350"/>
                  </a:cubicBezTo>
                  <a:lnTo>
                    <a:pt x="1027690" y="1067030"/>
                  </a:lnTo>
                  <a:cubicBezTo>
                    <a:pt x="1027690" y="1141782"/>
                    <a:pt x="967092" y="1202380"/>
                    <a:pt x="892340" y="1202380"/>
                  </a:cubicBezTo>
                  <a:lnTo>
                    <a:pt x="135350" y="1202380"/>
                  </a:lnTo>
                  <a:cubicBezTo>
                    <a:pt x="60598" y="1202380"/>
                    <a:pt x="0" y="1141782"/>
                    <a:pt x="0" y="1067030"/>
                  </a:cubicBezTo>
                  <a:lnTo>
                    <a:pt x="0" y="135350"/>
                  </a:lnTo>
                  <a:cubicBezTo>
                    <a:pt x="0" y="60598"/>
                    <a:pt x="60598" y="0"/>
                    <a:pt x="135350" y="0"/>
                  </a:cubicBezTo>
                  <a:close/>
                </a:path>
              </a:pathLst>
            </a:custGeom>
            <a:blipFill>
              <a:blip r:embed="rId2"/>
              <a:stretch>
                <a:fillRect l="-89" t="0" r="-89" b="0"/>
              </a:stretch>
            </a:blipFill>
          </p:spPr>
        </p:sp>
      </p:grpSp>
      <p:sp>
        <p:nvSpPr>
          <p:cNvPr name="Freeform 20" id="20"/>
          <p:cNvSpPr/>
          <p:nvPr/>
        </p:nvSpPr>
        <p:spPr>
          <a:xfrm flipH="false" flipV="false" rot="5400000">
            <a:off x="15889328" y="-38100"/>
            <a:ext cx="2436772" cy="2436772"/>
          </a:xfrm>
          <a:custGeom>
            <a:avLst/>
            <a:gdLst/>
            <a:ahLst/>
            <a:cxnLst/>
            <a:rect r="r" b="b" t="t" l="l"/>
            <a:pathLst>
              <a:path h="2436772" w="2436772">
                <a:moveTo>
                  <a:pt x="0" y="0"/>
                </a:moveTo>
                <a:lnTo>
                  <a:pt x="2436772" y="0"/>
                </a:lnTo>
                <a:lnTo>
                  <a:pt x="2436772" y="2436772"/>
                </a:lnTo>
                <a:lnTo>
                  <a:pt x="0" y="24367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21" id="21"/>
          <p:cNvSpPr/>
          <p:nvPr/>
        </p:nvSpPr>
        <p:spPr>
          <a:xfrm flipH="false" flipV="false" rot="-5400000">
            <a:off x="-19050" y="7878803"/>
            <a:ext cx="2436772" cy="2436772"/>
          </a:xfrm>
          <a:custGeom>
            <a:avLst/>
            <a:gdLst/>
            <a:ahLst/>
            <a:cxnLst/>
            <a:rect r="r" b="b" t="t" l="l"/>
            <a:pathLst>
              <a:path h="2436772" w="2436772">
                <a:moveTo>
                  <a:pt x="0" y="0"/>
                </a:moveTo>
                <a:lnTo>
                  <a:pt x="2436772" y="0"/>
                </a:lnTo>
                <a:lnTo>
                  <a:pt x="2436772" y="2436772"/>
                </a:lnTo>
                <a:lnTo>
                  <a:pt x="0" y="24367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83B44"/>
        </a:solidFill>
      </p:bgPr>
    </p:bg>
    <p:spTree>
      <p:nvGrpSpPr>
        <p:cNvPr id="1" name=""/>
        <p:cNvGrpSpPr/>
        <p:nvPr/>
      </p:nvGrpSpPr>
      <p:grpSpPr>
        <a:xfrm>
          <a:off x="0" y="0"/>
          <a:ext cx="0" cy="0"/>
          <a:chOff x="0" y="0"/>
          <a:chExt cx="0" cy="0"/>
        </a:xfrm>
      </p:grpSpPr>
      <p:grpSp>
        <p:nvGrpSpPr>
          <p:cNvPr name="Group 2" id="2"/>
          <p:cNvGrpSpPr/>
          <p:nvPr/>
        </p:nvGrpSpPr>
        <p:grpSpPr>
          <a:xfrm rot="0">
            <a:off x="1708881" y="4932680"/>
            <a:ext cx="788642" cy="759567"/>
            <a:chOff x="0" y="0"/>
            <a:chExt cx="207708" cy="200051"/>
          </a:xfrm>
        </p:grpSpPr>
        <p:sp>
          <p:nvSpPr>
            <p:cNvPr name="Freeform 3" id="3"/>
            <p:cNvSpPr/>
            <p:nvPr/>
          </p:nvSpPr>
          <p:spPr>
            <a:xfrm flipH="false" flipV="false" rot="0">
              <a:off x="0" y="0"/>
              <a:ext cx="207708" cy="200051"/>
            </a:xfrm>
            <a:custGeom>
              <a:avLst/>
              <a:gdLst/>
              <a:ahLst/>
              <a:cxnLst/>
              <a:rect r="r" b="b" t="t" l="l"/>
              <a:pathLst>
                <a:path h="200051" w="207708">
                  <a:moveTo>
                    <a:pt x="0" y="0"/>
                  </a:moveTo>
                  <a:lnTo>
                    <a:pt x="207708" y="0"/>
                  </a:lnTo>
                  <a:lnTo>
                    <a:pt x="207708" y="200051"/>
                  </a:lnTo>
                  <a:lnTo>
                    <a:pt x="0" y="200051"/>
                  </a:lnTo>
                  <a:close/>
                </a:path>
              </a:pathLst>
            </a:custGeom>
            <a:solidFill>
              <a:srgbClr val="FFFFFF"/>
            </a:solidFill>
          </p:spPr>
        </p:sp>
        <p:sp>
          <p:nvSpPr>
            <p:cNvPr name="TextBox 4" id="4"/>
            <p:cNvSpPr txBox="true"/>
            <p:nvPr/>
          </p:nvSpPr>
          <p:spPr>
            <a:xfrm>
              <a:off x="0" y="-238125"/>
              <a:ext cx="207708" cy="438176"/>
            </a:xfrm>
            <a:prstGeom prst="rect">
              <a:avLst/>
            </a:prstGeom>
          </p:spPr>
          <p:txBody>
            <a:bodyPr anchor="ctr" rtlCol="false" tIns="50800" lIns="50800" bIns="50800" rIns="50800"/>
            <a:lstStyle/>
            <a:p>
              <a:pPr algn="ctr" marL="0" indent="0" lvl="0">
                <a:lnSpc>
                  <a:spcPts val="4481"/>
                </a:lnSpc>
              </a:pPr>
            </a:p>
          </p:txBody>
        </p:sp>
      </p:grpSp>
      <p:grpSp>
        <p:nvGrpSpPr>
          <p:cNvPr name="Group 5" id="5"/>
          <p:cNvGrpSpPr/>
          <p:nvPr/>
        </p:nvGrpSpPr>
        <p:grpSpPr>
          <a:xfrm rot="0">
            <a:off x="13182082" y="8498733"/>
            <a:ext cx="3653643" cy="759567"/>
            <a:chOff x="0" y="0"/>
            <a:chExt cx="962276" cy="200051"/>
          </a:xfrm>
        </p:grpSpPr>
        <p:sp>
          <p:nvSpPr>
            <p:cNvPr name="Freeform 6" id="6"/>
            <p:cNvSpPr/>
            <p:nvPr/>
          </p:nvSpPr>
          <p:spPr>
            <a:xfrm flipH="false" flipV="false" rot="0">
              <a:off x="0" y="0"/>
              <a:ext cx="962276" cy="200051"/>
            </a:xfrm>
            <a:custGeom>
              <a:avLst/>
              <a:gdLst/>
              <a:ahLst/>
              <a:cxnLst/>
              <a:rect r="r" b="b" t="t" l="l"/>
              <a:pathLst>
                <a:path h="200051" w="962276">
                  <a:moveTo>
                    <a:pt x="0" y="0"/>
                  </a:moveTo>
                  <a:lnTo>
                    <a:pt x="962276" y="0"/>
                  </a:lnTo>
                  <a:lnTo>
                    <a:pt x="962276" y="200051"/>
                  </a:lnTo>
                  <a:lnTo>
                    <a:pt x="0" y="200051"/>
                  </a:lnTo>
                  <a:close/>
                </a:path>
              </a:pathLst>
            </a:custGeom>
            <a:ln w="38100" cap="sq">
              <a:solidFill>
                <a:srgbClr val="FFFFFF"/>
              </a:solidFill>
              <a:prstDash val="solid"/>
              <a:miter/>
            </a:ln>
          </p:spPr>
        </p:sp>
        <p:sp>
          <p:nvSpPr>
            <p:cNvPr name="TextBox 7" id="7"/>
            <p:cNvSpPr txBox="true"/>
            <p:nvPr/>
          </p:nvSpPr>
          <p:spPr>
            <a:xfrm>
              <a:off x="0" y="-238125"/>
              <a:ext cx="962276" cy="438176"/>
            </a:xfrm>
            <a:prstGeom prst="rect">
              <a:avLst/>
            </a:prstGeom>
          </p:spPr>
          <p:txBody>
            <a:bodyPr anchor="ctr" rtlCol="false" tIns="50800" lIns="50800" bIns="50800" rIns="50800"/>
            <a:lstStyle/>
            <a:p>
              <a:pPr algn="ctr" marL="0" indent="0" lvl="0">
                <a:lnSpc>
                  <a:spcPts val="4481"/>
                </a:lnSpc>
              </a:pPr>
            </a:p>
          </p:txBody>
        </p:sp>
      </p:grpSp>
      <p:grpSp>
        <p:nvGrpSpPr>
          <p:cNvPr name="Group 8" id="8"/>
          <p:cNvGrpSpPr/>
          <p:nvPr/>
        </p:nvGrpSpPr>
        <p:grpSpPr>
          <a:xfrm rot="0">
            <a:off x="6821065" y="4932680"/>
            <a:ext cx="788642" cy="759567"/>
            <a:chOff x="0" y="0"/>
            <a:chExt cx="207708" cy="200051"/>
          </a:xfrm>
        </p:grpSpPr>
        <p:sp>
          <p:nvSpPr>
            <p:cNvPr name="Freeform 9" id="9"/>
            <p:cNvSpPr/>
            <p:nvPr/>
          </p:nvSpPr>
          <p:spPr>
            <a:xfrm flipH="false" flipV="false" rot="0">
              <a:off x="0" y="0"/>
              <a:ext cx="207708" cy="200051"/>
            </a:xfrm>
            <a:custGeom>
              <a:avLst/>
              <a:gdLst/>
              <a:ahLst/>
              <a:cxnLst/>
              <a:rect r="r" b="b" t="t" l="l"/>
              <a:pathLst>
                <a:path h="200051" w="207708">
                  <a:moveTo>
                    <a:pt x="0" y="0"/>
                  </a:moveTo>
                  <a:lnTo>
                    <a:pt x="207708" y="0"/>
                  </a:lnTo>
                  <a:lnTo>
                    <a:pt x="207708" y="200051"/>
                  </a:lnTo>
                  <a:lnTo>
                    <a:pt x="0" y="200051"/>
                  </a:lnTo>
                  <a:close/>
                </a:path>
              </a:pathLst>
            </a:custGeom>
            <a:solidFill>
              <a:srgbClr val="FFFFFF"/>
            </a:solidFill>
          </p:spPr>
        </p:sp>
        <p:sp>
          <p:nvSpPr>
            <p:cNvPr name="TextBox 10" id="10"/>
            <p:cNvSpPr txBox="true"/>
            <p:nvPr/>
          </p:nvSpPr>
          <p:spPr>
            <a:xfrm>
              <a:off x="0" y="-238125"/>
              <a:ext cx="207708" cy="438176"/>
            </a:xfrm>
            <a:prstGeom prst="rect">
              <a:avLst/>
            </a:prstGeom>
          </p:spPr>
          <p:txBody>
            <a:bodyPr anchor="ctr" rtlCol="false" tIns="50800" lIns="50800" bIns="50800" rIns="50800"/>
            <a:lstStyle/>
            <a:p>
              <a:pPr algn="ctr" marL="0" indent="0" lvl="0">
                <a:lnSpc>
                  <a:spcPts val="4481"/>
                </a:lnSpc>
              </a:pPr>
            </a:p>
          </p:txBody>
        </p:sp>
      </p:grpSp>
      <p:grpSp>
        <p:nvGrpSpPr>
          <p:cNvPr name="Group 11" id="11"/>
          <p:cNvGrpSpPr/>
          <p:nvPr/>
        </p:nvGrpSpPr>
        <p:grpSpPr>
          <a:xfrm rot="0">
            <a:off x="11933249" y="4932680"/>
            <a:ext cx="788642" cy="759567"/>
            <a:chOff x="0" y="0"/>
            <a:chExt cx="207708" cy="200051"/>
          </a:xfrm>
        </p:grpSpPr>
        <p:sp>
          <p:nvSpPr>
            <p:cNvPr name="Freeform 12" id="12"/>
            <p:cNvSpPr/>
            <p:nvPr/>
          </p:nvSpPr>
          <p:spPr>
            <a:xfrm flipH="false" flipV="false" rot="0">
              <a:off x="0" y="0"/>
              <a:ext cx="207708" cy="200051"/>
            </a:xfrm>
            <a:custGeom>
              <a:avLst/>
              <a:gdLst/>
              <a:ahLst/>
              <a:cxnLst/>
              <a:rect r="r" b="b" t="t" l="l"/>
              <a:pathLst>
                <a:path h="200051" w="207708">
                  <a:moveTo>
                    <a:pt x="0" y="0"/>
                  </a:moveTo>
                  <a:lnTo>
                    <a:pt x="207708" y="0"/>
                  </a:lnTo>
                  <a:lnTo>
                    <a:pt x="207708" y="200051"/>
                  </a:lnTo>
                  <a:lnTo>
                    <a:pt x="0" y="200051"/>
                  </a:lnTo>
                  <a:close/>
                </a:path>
              </a:pathLst>
            </a:custGeom>
            <a:solidFill>
              <a:srgbClr val="FFFFFF"/>
            </a:solidFill>
          </p:spPr>
        </p:sp>
        <p:sp>
          <p:nvSpPr>
            <p:cNvPr name="TextBox 13" id="13"/>
            <p:cNvSpPr txBox="true"/>
            <p:nvPr/>
          </p:nvSpPr>
          <p:spPr>
            <a:xfrm>
              <a:off x="0" y="-238125"/>
              <a:ext cx="207708" cy="438176"/>
            </a:xfrm>
            <a:prstGeom prst="rect">
              <a:avLst/>
            </a:prstGeom>
          </p:spPr>
          <p:txBody>
            <a:bodyPr anchor="ctr" rtlCol="false" tIns="50800" lIns="50800" bIns="50800" rIns="50800"/>
            <a:lstStyle/>
            <a:p>
              <a:pPr algn="ctr" marL="0" indent="0" lvl="0">
                <a:lnSpc>
                  <a:spcPts val="4481"/>
                </a:lnSpc>
              </a:pPr>
            </a:p>
          </p:txBody>
        </p:sp>
      </p:grpSp>
      <p:sp>
        <p:nvSpPr>
          <p:cNvPr name="TextBox 14" id="14"/>
          <p:cNvSpPr txBox="true"/>
          <p:nvPr/>
        </p:nvSpPr>
        <p:spPr>
          <a:xfrm rot="0">
            <a:off x="13473109" y="8650597"/>
            <a:ext cx="4468960" cy="313344"/>
          </a:xfrm>
          <a:prstGeom prst="rect">
            <a:avLst/>
          </a:prstGeom>
        </p:spPr>
        <p:txBody>
          <a:bodyPr anchor="t" rtlCol="false" tIns="0" lIns="0" bIns="0" rIns="0">
            <a:spAutoFit/>
          </a:bodyPr>
          <a:lstStyle/>
          <a:p>
            <a:pPr algn="l" marL="0" indent="0" lvl="0">
              <a:lnSpc>
                <a:spcPts val="2452"/>
              </a:lnSpc>
            </a:pPr>
            <a:r>
              <a:rPr lang="en-US" sz="1789">
                <a:solidFill>
                  <a:srgbClr val="FFFFFF"/>
                </a:solidFill>
                <a:latin typeface="Poppins"/>
                <a:ea typeface="Poppins"/>
                <a:cs typeface="Poppins"/>
                <a:sym typeface="Poppins"/>
              </a:rPr>
              <a:t>Crypto Lending Platform — Confidential</a:t>
            </a:r>
          </a:p>
        </p:txBody>
      </p:sp>
      <p:sp>
        <p:nvSpPr>
          <p:cNvPr name="AutoShape 15" id="15"/>
          <p:cNvSpPr/>
          <p:nvPr/>
        </p:nvSpPr>
        <p:spPr>
          <a:xfrm>
            <a:off x="2716026" y="8878516"/>
            <a:ext cx="10466055" cy="0"/>
          </a:xfrm>
          <a:prstGeom prst="line">
            <a:avLst/>
          </a:prstGeom>
          <a:ln cap="flat" w="38100">
            <a:solidFill>
              <a:srgbClr val="FFFFFF"/>
            </a:solidFill>
            <a:prstDash val="solid"/>
            <a:headEnd type="none" len="sm" w="sm"/>
            <a:tailEnd type="none" len="sm" w="sm"/>
          </a:ln>
        </p:spPr>
      </p:sp>
      <p:grpSp>
        <p:nvGrpSpPr>
          <p:cNvPr name="Group 16" id="16"/>
          <p:cNvGrpSpPr/>
          <p:nvPr/>
        </p:nvGrpSpPr>
        <p:grpSpPr>
          <a:xfrm rot="0">
            <a:off x="15099061" y="1530480"/>
            <a:ext cx="1418576" cy="1801546"/>
            <a:chOff x="0" y="0"/>
            <a:chExt cx="331143" cy="420542"/>
          </a:xfrm>
        </p:grpSpPr>
        <p:sp>
          <p:nvSpPr>
            <p:cNvPr name="Freeform 17" id="17"/>
            <p:cNvSpPr/>
            <p:nvPr/>
          </p:nvSpPr>
          <p:spPr>
            <a:xfrm flipH="false" flipV="false" rot="0">
              <a:off x="0" y="0"/>
              <a:ext cx="331143" cy="420542"/>
            </a:xfrm>
            <a:custGeom>
              <a:avLst/>
              <a:gdLst/>
              <a:ahLst/>
              <a:cxnLst/>
              <a:rect r="r" b="b" t="t" l="l"/>
              <a:pathLst>
                <a:path h="420542" w="331143">
                  <a:moveTo>
                    <a:pt x="0" y="0"/>
                  </a:moveTo>
                  <a:lnTo>
                    <a:pt x="331143" y="0"/>
                  </a:lnTo>
                  <a:lnTo>
                    <a:pt x="331143" y="420542"/>
                  </a:lnTo>
                  <a:lnTo>
                    <a:pt x="0" y="420542"/>
                  </a:lnTo>
                  <a:close/>
                </a:path>
              </a:pathLst>
            </a:custGeom>
            <a:solidFill>
              <a:srgbClr val="FFFFFF"/>
            </a:solidFill>
          </p:spPr>
        </p:sp>
        <p:sp>
          <p:nvSpPr>
            <p:cNvPr name="TextBox 18" id="18"/>
            <p:cNvSpPr txBox="true"/>
            <p:nvPr/>
          </p:nvSpPr>
          <p:spPr>
            <a:xfrm>
              <a:off x="0" y="-238125"/>
              <a:ext cx="331143" cy="658667"/>
            </a:xfrm>
            <a:prstGeom prst="rect">
              <a:avLst/>
            </a:prstGeom>
          </p:spPr>
          <p:txBody>
            <a:bodyPr anchor="ctr" rtlCol="false" tIns="50800" lIns="50800" bIns="50800" rIns="50800"/>
            <a:lstStyle/>
            <a:p>
              <a:pPr algn="ctr" marL="0" indent="0" lvl="0">
                <a:lnSpc>
                  <a:spcPts val="4481"/>
                </a:lnSpc>
              </a:pPr>
            </a:p>
          </p:txBody>
        </p:sp>
      </p:grpSp>
      <p:sp>
        <p:nvSpPr>
          <p:cNvPr name="Freeform 19" id="19"/>
          <p:cNvSpPr/>
          <p:nvPr/>
        </p:nvSpPr>
        <p:spPr>
          <a:xfrm flipH="false" flipV="false" rot="0">
            <a:off x="15562076" y="2025580"/>
            <a:ext cx="492547" cy="811348"/>
          </a:xfrm>
          <a:custGeom>
            <a:avLst/>
            <a:gdLst/>
            <a:ahLst/>
            <a:cxnLst/>
            <a:rect r="r" b="b" t="t" l="l"/>
            <a:pathLst>
              <a:path h="811348" w="492547">
                <a:moveTo>
                  <a:pt x="0" y="0"/>
                </a:moveTo>
                <a:lnTo>
                  <a:pt x="492547" y="0"/>
                </a:lnTo>
                <a:lnTo>
                  <a:pt x="492547" y="811348"/>
                </a:lnTo>
                <a:lnTo>
                  <a:pt x="0" y="811348"/>
                </a:lnTo>
                <a:lnTo>
                  <a:pt x="0" y="0"/>
                </a:lnTo>
                <a:close/>
              </a:path>
            </a:pathLst>
          </a:custGeom>
          <a:blipFill>
            <a:blip r:embed="rId2">
              <a:extLst>
                <a:ext uri="{96DAC541-7B7A-43D3-8B79-37D633B846F1}">
                  <asvg:svgBlip xmlns:asvg="http://schemas.microsoft.com/office/drawing/2016/SVG/main" r:embed="rId3"/>
                </a:ext>
              </a:extLst>
            </a:blip>
            <a:stretch>
              <a:fillRect l="0" t="0" r="-432933" b="0"/>
            </a:stretch>
          </a:blipFill>
        </p:spPr>
      </p:sp>
      <p:grpSp>
        <p:nvGrpSpPr>
          <p:cNvPr name="Group 20" id="20"/>
          <p:cNvGrpSpPr/>
          <p:nvPr/>
        </p:nvGrpSpPr>
        <p:grpSpPr>
          <a:xfrm rot="0">
            <a:off x="10197941" y="1530480"/>
            <a:ext cx="4570767" cy="1801546"/>
            <a:chOff x="0" y="0"/>
            <a:chExt cx="627630" cy="247377"/>
          </a:xfrm>
        </p:grpSpPr>
        <p:sp>
          <p:nvSpPr>
            <p:cNvPr name="Freeform 21" id="21"/>
            <p:cNvSpPr/>
            <p:nvPr/>
          </p:nvSpPr>
          <p:spPr>
            <a:xfrm flipH="false" flipV="false" rot="0">
              <a:off x="0" y="0"/>
              <a:ext cx="627630" cy="247377"/>
            </a:xfrm>
            <a:custGeom>
              <a:avLst/>
              <a:gdLst/>
              <a:ahLst/>
              <a:cxnLst/>
              <a:rect r="r" b="b" t="t" l="l"/>
              <a:pathLst>
                <a:path h="247377" w="627630">
                  <a:moveTo>
                    <a:pt x="0" y="0"/>
                  </a:moveTo>
                  <a:lnTo>
                    <a:pt x="627630" y="0"/>
                  </a:lnTo>
                  <a:lnTo>
                    <a:pt x="627630" y="247377"/>
                  </a:lnTo>
                  <a:lnTo>
                    <a:pt x="0" y="247377"/>
                  </a:lnTo>
                  <a:close/>
                </a:path>
              </a:pathLst>
            </a:custGeom>
            <a:blipFill>
              <a:blip r:embed="rId4"/>
              <a:stretch>
                <a:fillRect l="0" t="-901" r="0" b="-901"/>
              </a:stretch>
            </a:blipFill>
          </p:spPr>
        </p:sp>
      </p:grpSp>
      <p:sp>
        <p:nvSpPr>
          <p:cNvPr name="TextBox 22" id="22"/>
          <p:cNvSpPr txBox="true"/>
          <p:nvPr/>
        </p:nvSpPr>
        <p:spPr>
          <a:xfrm rot="0">
            <a:off x="1708881" y="1240169"/>
            <a:ext cx="7726527" cy="2286932"/>
          </a:xfrm>
          <a:prstGeom prst="rect">
            <a:avLst/>
          </a:prstGeom>
        </p:spPr>
        <p:txBody>
          <a:bodyPr anchor="t" rtlCol="false" tIns="0" lIns="0" bIns="0" rIns="0">
            <a:spAutoFit/>
          </a:bodyPr>
          <a:lstStyle/>
          <a:p>
            <a:pPr algn="l" marL="0" indent="0" lvl="0">
              <a:lnSpc>
                <a:spcPts val="8702"/>
              </a:lnSpc>
            </a:pPr>
            <a:r>
              <a:rPr lang="en-US" sz="7133" spc="-14">
                <a:solidFill>
                  <a:srgbClr val="FFFFFF"/>
                </a:solidFill>
                <a:latin typeface="Poppins"/>
                <a:ea typeface="Poppins"/>
                <a:cs typeface="Poppins"/>
                <a:sym typeface="Poppins"/>
              </a:rPr>
              <a:t>Loan Origination Workflow</a:t>
            </a:r>
          </a:p>
        </p:txBody>
      </p:sp>
      <p:sp>
        <p:nvSpPr>
          <p:cNvPr name="TextBox 23" id="23"/>
          <p:cNvSpPr txBox="true"/>
          <p:nvPr/>
        </p:nvSpPr>
        <p:spPr>
          <a:xfrm rot="0">
            <a:off x="2785614" y="5635097"/>
            <a:ext cx="3507656" cy="1632473"/>
          </a:xfrm>
          <a:prstGeom prst="rect">
            <a:avLst/>
          </a:prstGeom>
        </p:spPr>
        <p:txBody>
          <a:bodyPr anchor="t" rtlCol="false" tIns="0" lIns="0" bIns="0" rIns="0">
            <a:spAutoFit/>
          </a:bodyPr>
          <a:lstStyle/>
          <a:p>
            <a:pPr algn="l" marL="0" indent="0" lvl="0">
              <a:lnSpc>
                <a:spcPts val="2198"/>
              </a:lnSpc>
            </a:pPr>
            <a:r>
              <a:rPr lang="en-US" sz="1356" spc="-2">
                <a:solidFill>
                  <a:srgbClr val="FFFFFF"/>
                </a:solidFill>
                <a:latin typeface="DM Sans"/>
                <a:ea typeface="DM Sans"/>
                <a:cs typeface="DM Sans"/>
                <a:sym typeface="DM Sans"/>
              </a:rPr>
              <a:t>Borrowers submit loan requests via a secure digital portal with KYC/AML verification. Applicants specify loan amount, preferred crypto collateral, and loan tenure. Real-time wallet verification confirms asset ownership and collateral eligibility before proceeding.</a:t>
            </a:r>
          </a:p>
        </p:txBody>
      </p:sp>
      <p:sp>
        <p:nvSpPr>
          <p:cNvPr name="TextBox 24" id="24"/>
          <p:cNvSpPr txBox="true"/>
          <p:nvPr/>
        </p:nvSpPr>
        <p:spPr>
          <a:xfrm rot="0">
            <a:off x="7897798" y="5635097"/>
            <a:ext cx="3507656" cy="2184923"/>
          </a:xfrm>
          <a:prstGeom prst="rect">
            <a:avLst/>
          </a:prstGeom>
        </p:spPr>
        <p:txBody>
          <a:bodyPr anchor="t" rtlCol="false" tIns="0" lIns="0" bIns="0" rIns="0">
            <a:spAutoFit/>
          </a:bodyPr>
          <a:lstStyle/>
          <a:p>
            <a:pPr algn="l" marL="0" indent="0" lvl="0">
              <a:lnSpc>
                <a:spcPts val="2198"/>
              </a:lnSpc>
            </a:pPr>
            <a:r>
              <a:rPr lang="en-US" sz="1356" spc="-2">
                <a:solidFill>
                  <a:srgbClr val="FFFFFF"/>
                </a:solidFill>
                <a:latin typeface="DM Sans"/>
                <a:ea typeface="DM Sans"/>
                <a:cs typeface="DM Sans"/>
                <a:sym typeface="DM Sans"/>
              </a:rPr>
              <a:t>The LOS engine performs automated credit scoring and collateral valuation using live market data feeds. Loan-to-Value (LTV) ratios are calculated dynamically. Risk tiers are assigned and approval decisions are rendered instantly, with escalation paths for complex cases requiring manual underwriter review.</a:t>
            </a:r>
          </a:p>
        </p:txBody>
      </p:sp>
      <p:sp>
        <p:nvSpPr>
          <p:cNvPr name="TextBox 25" id="25"/>
          <p:cNvSpPr txBox="true"/>
          <p:nvPr/>
        </p:nvSpPr>
        <p:spPr>
          <a:xfrm rot="0">
            <a:off x="13009982" y="5635097"/>
            <a:ext cx="3507656" cy="2184923"/>
          </a:xfrm>
          <a:prstGeom prst="rect">
            <a:avLst/>
          </a:prstGeom>
        </p:spPr>
        <p:txBody>
          <a:bodyPr anchor="t" rtlCol="false" tIns="0" lIns="0" bIns="0" rIns="0">
            <a:spAutoFit/>
          </a:bodyPr>
          <a:lstStyle/>
          <a:p>
            <a:pPr algn="l" marL="0" indent="0" lvl="0">
              <a:lnSpc>
                <a:spcPts val="2198"/>
              </a:lnSpc>
            </a:pPr>
            <a:r>
              <a:rPr lang="en-US" sz="1356" spc="-2">
                <a:solidFill>
                  <a:srgbClr val="FFFFFF"/>
                </a:solidFill>
                <a:latin typeface="DM Sans"/>
                <a:ea typeface="DM Sans"/>
                <a:cs typeface="DM Sans"/>
                <a:sym typeface="DM Sans"/>
              </a:rPr>
              <a:t>Upon approval, smart contracts execute binding loan agreements. Crypto collateral is locked in a secure custodial vault or on-chain escrow. Funds are disbursed to the borrower's designated account within minutes, initiating the LMS servicing lifecycle with automated repayment scheduling.</a:t>
            </a:r>
          </a:p>
        </p:txBody>
      </p:sp>
      <p:sp>
        <p:nvSpPr>
          <p:cNvPr name="TextBox 26" id="26"/>
          <p:cNvSpPr txBox="true"/>
          <p:nvPr/>
        </p:nvSpPr>
        <p:spPr>
          <a:xfrm rot="0">
            <a:off x="2785614" y="5030206"/>
            <a:ext cx="3507656" cy="292238"/>
          </a:xfrm>
          <a:prstGeom prst="rect">
            <a:avLst/>
          </a:prstGeom>
        </p:spPr>
        <p:txBody>
          <a:bodyPr anchor="t" rtlCol="false" tIns="0" lIns="0" bIns="0" rIns="0">
            <a:spAutoFit/>
          </a:bodyPr>
          <a:lstStyle/>
          <a:p>
            <a:pPr algn="l" marL="0" indent="0" lvl="0">
              <a:lnSpc>
                <a:spcPts val="2267"/>
              </a:lnSpc>
            </a:pPr>
            <a:r>
              <a:rPr lang="en-US" b="true" sz="1619" spc="-3">
                <a:solidFill>
                  <a:srgbClr val="FFFFFF"/>
                </a:solidFill>
                <a:latin typeface="Poppins Ultra-Bold"/>
                <a:ea typeface="Poppins Ultra-Bold"/>
                <a:cs typeface="Poppins Ultra-Bold"/>
                <a:sym typeface="Poppins Ultra-Bold"/>
              </a:rPr>
              <a:t>Digital Application Intake</a:t>
            </a:r>
          </a:p>
        </p:txBody>
      </p:sp>
      <p:sp>
        <p:nvSpPr>
          <p:cNvPr name="TextBox 27" id="27"/>
          <p:cNvSpPr txBox="true"/>
          <p:nvPr/>
        </p:nvSpPr>
        <p:spPr>
          <a:xfrm rot="0">
            <a:off x="7897798" y="5030206"/>
            <a:ext cx="3507656" cy="292238"/>
          </a:xfrm>
          <a:prstGeom prst="rect">
            <a:avLst/>
          </a:prstGeom>
        </p:spPr>
        <p:txBody>
          <a:bodyPr anchor="t" rtlCol="false" tIns="0" lIns="0" bIns="0" rIns="0">
            <a:spAutoFit/>
          </a:bodyPr>
          <a:lstStyle/>
          <a:p>
            <a:pPr algn="l" marL="0" indent="0" lvl="0">
              <a:lnSpc>
                <a:spcPts val="2267"/>
              </a:lnSpc>
            </a:pPr>
            <a:r>
              <a:rPr lang="en-US" b="true" sz="1619" spc="-3">
                <a:solidFill>
                  <a:srgbClr val="FFFFFF"/>
                </a:solidFill>
                <a:latin typeface="Poppins Ultra-Bold"/>
                <a:ea typeface="Poppins Ultra-Bold"/>
                <a:cs typeface="Poppins Ultra-Bold"/>
                <a:sym typeface="Poppins Ultra-Bold"/>
              </a:rPr>
              <a:t>Risk Assessment &amp; Decisioning</a:t>
            </a:r>
          </a:p>
        </p:txBody>
      </p:sp>
      <p:sp>
        <p:nvSpPr>
          <p:cNvPr name="TextBox 28" id="28"/>
          <p:cNvSpPr txBox="true"/>
          <p:nvPr/>
        </p:nvSpPr>
        <p:spPr>
          <a:xfrm rot="0">
            <a:off x="13009982" y="5030206"/>
            <a:ext cx="3507656" cy="292238"/>
          </a:xfrm>
          <a:prstGeom prst="rect">
            <a:avLst/>
          </a:prstGeom>
        </p:spPr>
        <p:txBody>
          <a:bodyPr anchor="t" rtlCol="false" tIns="0" lIns="0" bIns="0" rIns="0">
            <a:spAutoFit/>
          </a:bodyPr>
          <a:lstStyle/>
          <a:p>
            <a:pPr algn="l" marL="0" indent="0" lvl="0">
              <a:lnSpc>
                <a:spcPts val="2267"/>
              </a:lnSpc>
            </a:pPr>
            <a:r>
              <a:rPr lang="en-US" b="true" sz="1619" spc="-3">
                <a:solidFill>
                  <a:srgbClr val="FFFFFF"/>
                </a:solidFill>
                <a:latin typeface="Poppins Ultra-Bold"/>
                <a:ea typeface="Poppins Ultra-Bold"/>
                <a:cs typeface="Poppins Ultra-Bold"/>
                <a:sym typeface="Poppins Ultra-Bold"/>
              </a:rPr>
              <a:t>Agreement, Collateral &amp; Funding</a:t>
            </a:r>
          </a:p>
        </p:txBody>
      </p:sp>
      <p:sp>
        <p:nvSpPr>
          <p:cNvPr name="TextBox 29" id="29"/>
          <p:cNvSpPr txBox="true"/>
          <p:nvPr/>
        </p:nvSpPr>
        <p:spPr>
          <a:xfrm rot="0">
            <a:off x="1817806" y="5009079"/>
            <a:ext cx="570793" cy="408847"/>
          </a:xfrm>
          <a:prstGeom prst="rect">
            <a:avLst/>
          </a:prstGeom>
        </p:spPr>
        <p:txBody>
          <a:bodyPr anchor="t" rtlCol="false" tIns="0" lIns="0" bIns="0" rIns="0">
            <a:spAutoFit/>
          </a:bodyPr>
          <a:lstStyle/>
          <a:p>
            <a:pPr algn="ctr" marL="0" indent="0" lvl="0">
              <a:lnSpc>
                <a:spcPts val="3190"/>
              </a:lnSpc>
            </a:pPr>
            <a:r>
              <a:rPr lang="en-US" b="true" sz="2278" spc="-4">
                <a:solidFill>
                  <a:srgbClr val="283B44"/>
                </a:solidFill>
                <a:latin typeface="Poppins Ultra-Bold"/>
                <a:ea typeface="Poppins Ultra-Bold"/>
                <a:cs typeface="Poppins Ultra-Bold"/>
                <a:sym typeface="Poppins Ultra-Bold"/>
              </a:rPr>
              <a:t>01</a:t>
            </a:r>
          </a:p>
        </p:txBody>
      </p:sp>
      <p:sp>
        <p:nvSpPr>
          <p:cNvPr name="TextBox 30" id="30"/>
          <p:cNvSpPr txBox="true"/>
          <p:nvPr/>
        </p:nvSpPr>
        <p:spPr>
          <a:xfrm rot="0">
            <a:off x="6929990" y="5009079"/>
            <a:ext cx="570793" cy="408847"/>
          </a:xfrm>
          <a:prstGeom prst="rect">
            <a:avLst/>
          </a:prstGeom>
        </p:spPr>
        <p:txBody>
          <a:bodyPr anchor="t" rtlCol="false" tIns="0" lIns="0" bIns="0" rIns="0">
            <a:spAutoFit/>
          </a:bodyPr>
          <a:lstStyle/>
          <a:p>
            <a:pPr algn="ctr" marL="0" indent="0" lvl="0">
              <a:lnSpc>
                <a:spcPts val="3190"/>
              </a:lnSpc>
            </a:pPr>
            <a:r>
              <a:rPr lang="en-US" b="true" sz="2278" spc="-4">
                <a:solidFill>
                  <a:srgbClr val="283B44"/>
                </a:solidFill>
                <a:latin typeface="Poppins Ultra-Bold"/>
                <a:ea typeface="Poppins Ultra-Bold"/>
                <a:cs typeface="Poppins Ultra-Bold"/>
                <a:sym typeface="Poppins Ultra-Bold"/>
              </a:rPr>
              <a:t>02</a:t>
            </a:r>
          </a:p>
        </p:txBody>
      </p:sp>
      <p:sp>
        <p:nvSpPr>
          <p:cNvPr name="TextBox 31" id="31"/>
          <p:cNvSpPr txBox="true"/>
          <p:nvPr/>
        </p:nvSpPr>
        <p:spPr>
          <a:xfrm rot="0">
            <a:off x="12042173" y="5009079"/>
            <a:ext cx="570793" cy="408847"/>
          </a:xfrm>
          <a:prstGeom prst="rect">
            <a:avLst/>
          </a:prstGeom>
        </p:spPr>
        <p:txBody>
          <a:bodyPr anchor="t" rtlCol="false" tIns="0" lIns="0" bIns="0" rIns="0">
            <a:spAutoFit/>
          </a:bodyPr>
          <a:lstStyle/>
          <a:p>
            <a:pPr algn="ctr" marL="0" indent="0" lvl="0">
              <a:lnSpc>
                <a:spcPts val="3190"/>
              </a:lnSpc>
            </a:pPr>
            <a:r>
              <a:rPr lang="en-US" b="true" sz="2278" spc="-4">
                <a:solidFill>
                  <a:srgbClr val="283B44"/>
                </a:solidFill>
                <a:latin typeface="Poppins Ultra-Bold"/>
                <a:ea typeface="Poppins Ultra-Bold"/>
                <a:cs typeface="Poppins Ultra-Bold"/>
                <a:sym typeface="Poppins Ultra-Bold"/>
              </a:rPr>
              <a:t>03</a:t>
            </a:r>
          </a:p>
        </p:txBody>
      </p:sp>
      <p:sp>
        <p:nvSpPr>
          <p:cNvPr name="Freeform 32" id="32"/>
          <p:cNvSpPr/>
          <p:nvPr/>
        </p:nvSpPr>
        <p:spPr>
          <a:xfrm flipH="false" flipV="false" rot="0">
            <a:off x="-1175609" y="1629893"/>
            <a:ext cx="1918559" cy="1049975"/>
          </a:xfrm>
          <a:custGeom>
            <a:avLst/>
            <a:gdLst/>
            <a:ahLst/>
            <a:cxnLst/>
            <a:rect r="r" b="b" t="t" l="l"/>
            <a:pathLst>
              <a:path h="1049975" w="1918559">
                <a:moveTo>
                  <a:pt x="0" y="0"/>
                </a:moveTo>
                <a:lnTo>
                  <a:pt x="1918559" y="0"/>
                </a:lnTo>
                <a:lnTo>
                  <a:pt x="1918559" y="1049975"/>
                </a:lnTo>
                <a:lnTo>
                  <a:pt x="0" y="10499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3" id="33"/>
          <p:cNvSpPr/>
          <p:nvPr/>
        </p:nvSpPr>
        <p:spPr>
          <a:xfrm flipH="false" flipV="false" rot="5400000">
            <a:off x="15889328" y="-38100"/>
            <a:ext cx="2436772" cy="2436772"/>
          </a:xfrm>
          <a:custGeom>
            <a:avLst/>
            <a:gdLst/>
            <a:ahLst/>
            <a:cxnLst/>
            <a:rect r="r" b="b" t="t" l="l"/>
            <a:pathLst>
              <a:path h="2436772" w="2436772">
                <a:moveTo>
                  <a:pt x="0" y="0"/>
                </a:moveTo>
                <a:lnTo>
                  <a:pt x="2436772" y="0"/>
                </a:lnTo>
                <a:lnTo>
                  <a:pt x="2436772" y="2436772"/>
                </a:lnTo>
                <a:lnTo>
                  <a:pt x="0" y="243677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34" id="34"/>
          <p:cNvSpPr/>
          <p:nvPr/>
        </p:nvSpPr>
        <p:spPr>
          <a:xfrm flipH="false" flipV="false" rot="-5400000">
            <a:off x="-19050" y="7878803"/>
            <a:ext cx="2436772" cy="2436772"/>
          </a:xfrm>
          <a:custGeom>
            <a:avLst/>
            <a:gdLst/>
            <a:ahLst/>
            <a:cxnLst/>
            <a:rect r="r" b="b" t="t" l="l"/>
            <a:pathLst>
              <a:path h="2436772" w="2436772">
                <a:moveTo>
                  <a:pt x="0" y="0"/>
                </a:moveTo>
                <a:lnTo>
                  <a:pt x="2436772" y="0"/>
                </a:lnTo>
                <a:lnTo>
                  <a:pt x="2436772" y="2436772"/>
                </a:lnTo>
                <a:lnTo>
                  <a:pt x="0" y="243677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83B44"/>
        </a:solidFill>
      </p:bgPr>
    </p:bg>
    <p:spTree>
      <p:nvGrpSpPr>
        <p:cNvPr id="1" name=""/>
        <p:cNvGrpSpPr/>
        <p:nvPr/>
      </p:nvGrpSpPr>
      <p:grpSpPr>
        <a:xfrm>
          <a:off x="0" y="0"/>
          <a:ext cx="0" cy="0"/>
          <a:chOff x="0" y="0"/>
          <a:chExt cx="0" cy="0"/>
        </a:xfrm>
      </p:grpSpPr>
      <p:grpSp>
        <p:nvGrpSpPr>
          <p:cNvPr name="Group 2" id="2"/>
          <p:cNvGrpSpPr/>
          <p:nvPr/>
        </p:nvGrpSpPr>
        <p:grpSpPr>
          <a:xfrm rot="0">
            <a:off x="6309116" y="4224240"/>
            <a:ext cx="3445818" cy="4749056"/>
            <a:chOff x="0" y="0"/>
            <a:chExt cx="907540" cy="1250780"/>
          </a:xfrm>
        </p:grpSpPr>
        <p:sp>
          <p:nvSpPr>
            <p:cNvPr name="Freeform 3" id="3"/>
            <p:cNvSpPr/>
            <p:nvPr/>
          </p:nvSpPr>
          <p:spPr>
            <a:xfrm flipH="false" flipV="false" rot="0">
              <a:off x="0" y="0"/>
              <a:ext cx="907540" cy="1250780"/>
            </a:xfrm>
            <a:custGeom>
              <a:avLst/>
              <a:gdLst/>
              <a:ahLst/>
              <a:cxnLst/>
              <a:rect r="r" b="b" t="t" l="l"/>
              <a:pathLst>
                <a:path h="1250780" w="907540">
                  <a:moveTo>
                    <a:pt x="71896" y="0"/>
                  </a:moveTo>
                  <a:lnTo>
                    <a:pt x="835644" y="0"/>
                  </a:lnTo>
                  <a:cubicBezTo>
                    <a:pt x="875351" y="0"/>
                    <a:pt x="907540" y="32189"/>
                    <a:pt x="907540" y="71896"/>
                  </a:cubicBezTo>
                  <a:lnTo>
                    <a:pt x="907540" y="1178884"/>
                  </a:lnTo>
                  <a:cubicBezTo>
                    <a:pt x="907540" y="1197952"/>
                    <a:pt x="899966" y="1216239"/>
                    <a:pt x="886483" y="1229722"/>
                  </a:cubicBezTo>
                  <a:cubicBezTo>
                    <a:pt x="872999" y="1243205"/>
                    <a:pt x="854712" y="1250780"/>
                    <a:pt x="835644" y="1250780"/>
                  </a:cubicBezTo>
                  <a:lnTo>
                    <a:pt x="71896" y="1250780"/>
                  </a:lnTo>
                  <a:cubicBezTo>
                    <a:pt x="52828" y="1250780"/>
                    <a:pt x="34541" y="1243205"/>
                    <a:pt x="21058" y="1229722"/>
                  </a:cubicBezTo>
                  <a:cubicBezTo>
                    <a:pt x="7575" y="1216239"/>
                    <a:pt x="0" y="1197952"/>
                    <a:pt x="0" y="1178884"/>
                  </a:cubicBezTo>
                  <a:lnTo>
                    <a:pt x="0" y="71896"/>
                  </a:lnTo>
                  <a:cubicBezTo>
                    <a:pt x="0" y="52828"/>
                    <a:pt x="7575" y="34541"/>
                    <a:pt x="21058" y="21058"/>
                  </a:cubicBezTo>
                  <a:cubicBezTo>
                    <a:pt x="34541" y="7575"/>
                    <a:pt x="52828" y="0"/>
                    <a:pt x="71896" y="0"/>
                  </a:cubicBezTo>
                  <a:close/>
                </a:path>
              </a:pathLst>
            </a:custGeom>
            <a:solidFill>
              <a:srgbClr val="FFFFFF"/>
            </a:solidFill>
          </p:spPr>
        </p:sp>
        <p:sp>
          <p:nvSpPr>
            <p:cNvPr name="TextBox 4" id="4"/>
            <p:cNvSpPr txBox="true"/>
            <p:nvPr/>
          </p:nvSpPr>
          <p:spPr>
            <a:xfrm>
              <a:off x="0" y="-266700"/>
              <a:ext cx="907540" cy="1517480"/>
            </a:xfrm>
            <a:prstGeom prst="rect">
              <a:avLst/>
            </a:prstGeom>
          </p:spPr>
          <p:txBody>
            <a:bodyPr anchor="ctr" rtlCol="false" tIns="50800" lIns="50800" bIns="50800" rIns="50800"/>
            <a:lstStyle/>
            <a:p>
              <a:pPr algn="ctr" marL="0" indent="0" lvl="0">
                <a:lnSpc>
                  <a:spcPts val="4905"/>
                </a:lnSpc>
              </a:pPr>
            </a:p>
          </p:txBody>
        </p:sp>
      </p:grpSp>
      <p:grpSp>
        <p:nvGrpSpPr>
          <p:cNvPr name="Group 5" id="5"/>
          <p:cNvGrpSpPr/>
          <p:nvPr/>
        </p:nvGrpSpPr>
        <p:grpSpPr>
          <a:xfrm rot="0">
            <a:off x="10158033" y="4224240"/>
            <a:ext cx="3445818" cy="4749056"/>
            <a:chOff x="0" y="0"/>
            <a:chExt cx="907540" cy="1250780"/>
          </a:xfrm>
        </p:grpSpPr>
        <p:sp>
          <p:nvSpPr>
            <p:cNvPr name="Freeform 6" id="6"/>
            <p:cNvSpPr/>
            <p:nvPr/>
          </p:nvSpPr>
          <p:spPr>
            <a:xfrm flipH="false" flipV="false" rot="0">
              <a:off x="0" y="0"/>
              <a:ext cx="907540" cy="1250780"/>
            </a:xfrm>
            <a:custGeom>
              <a:avLst/>
              <a:gdLst/>
              <a:ahLst/>
              <a:cxnLst/>
              <a:rect r="r" b="b" t="t" l="l"/>
              <a:pathLst>
                <a:path h="1250780" w="907540">
                  <a:moveTo>
                    <a:pt x="71896" y="0"/>
                  </a:moveTo>
                  <a:lnTo>
                    <a:pt x="835644" y="0"/>
                  </a:lnTo>
                  <a:cubicBezTo>
                    <a:pt x="875351" y="0"/>
                    <a:pt x="907540" y="32189"/>
                    <a:pt x="907540" y="71896"/>
                  </a:cubicBezTo>
                  <a:lnTo>
                    <a:pt x="907540" y="1178884"/>
                  </a:lnTo>
                  <a:cubicBezTo>
                    <a:pt x="907540" y="1197952"/>
                    <a:pt x="899966" y="1216239"/>
                    <a:pt x="886483" y="1229722"/>
                  </a:cubicBezTo>
                  <a:cubicBezTo>
                    <a:pt x="872999" y="1243205"/>
                    <a:pt x="854712" y="1250780"/>
                    <a:pt x="835644" y="1250780"/>
                  </a:cubicBezTo>
                  <a:lnTo>
                    <a:pt x="71896" y="1250780"/>
                  </a:lnTo>
                  <a:cubicBezTo>
                    <a:pt x="52828" y="1250780"/>
                    <a:pt x="34541" y="1243205"/>
                    <a:pt x="21058" y="1229722"/>
                  </a:cubicBezTo>
                  <a:cubicBezTo>
                    <a:pt x="7575" y="1216239"/>
                    <a:pt x="0" y="1197952"/>
                    <a:pt x="0" y="1178884"/>
                  </a:cubicBezTo>
                  <a:lnTo>
                    <a:pt x="0" y="71896"/>
                  </a:lnTo>
                  <a:cubicBezTo>
                    <a:pt x="0" y="52828"/>
                    <a:pt x="7575" y="34541"/>
                    <a:pt x="21058" y="21058"/>
                  </a:cubicBezTo>
                  <a:cubicBezTo>
                    <a:pt x="34541" y="7575"/>
                    <a:pt x="52828" y="0"/>
                    <a:pt x="71896" y="0"/>
                  </a:cubicBezTo>
                  <a:close/>
                </a:path>
              </a:pathLst>
            </a:custGeom>
            <a:solidFill>
              <a:srgbClr val="FFFFFF"/>
            </a:solidFill>
          </p:spPr>
        </p:sp>
        <p:sp>
          <p:nvSpPr>
            <p:cNvPr name="TextBox 7" id="7"/>
            <p:cNvSpPr txBox="true"/>
            <p:nvPr/>
          </p:nvSpPr>
          <p:spPr>
            <a:xfrm>
              <a:off x="0" y="-266700"/>
              <a:ext cx="907540" cy="1517480"/>
            </a:xfrm>
            <a:prstGeom prst="rect">
              <a:avLst/>
            </a:prstGeom>
          </p:spPr>
          <p:txBody>
            <a:bodyPr anchor="ctr" rtlCol="false" tIns="50800" lIns="50800" bIns="50800" rIns="50800"/>
            <a:lstStyle/>
            <a:p>
              <a:pPr algn="ctr" marL="0" indent="0" lvl="0">
                <a:lnSpc>
                  <a:spcPts val="4905"/>
                </a:lnSpc>
              </a:pPr>
            </a:p>
          </p:txBody>
        </p:sp>
      </p:grpSp>
      <p:grpSp>
        <p:nvGrpSpPr>
          <p:cNvPr name="Group 8" id="8"/>
          <p:cNvGrpSpPr/>
          <p:nvPr/>
        </p:nvGrpSpPr>
        <p:grpSpPr>
          <a:xfrm rot="0">
            <a:off x="6309116" y="1313704"/>
            <a:ext cx="3445818" cy="3625608"/>
            <a:chOff x="0" y="0"/>
            <a:chExt cx="533847" cy="561702"/>
          </a:xfrm>
        </p:grpSpPr>
        <p:sp>
          <p:nvSpPr>
            <p:cNvPr name="Freeform 9" id="9"/>
            <p:cNvSpPr/>
            <p:nvPr/>
          </p:nvSpPr>
          <p:spPr>
            <a:xfrm flipH="false" flipV="false" rot="0">
              <a:off x="0" y="0"/>
              <a:ext cx="533847" cy="561702"/>
            </a:xfrm>
            <a:custGeom>
              <a:avLst/>
              <a:gdLst/>
              <a:ahLst/>
              <a:cxnLst/>
              <a:rect r="r" b="b" t="t" l="l"/>
              <a:pathLst>
                <a:path h="561702" w="533847">
                  <a:moveTo>
                    <a:pt x="60662" y="0"/>
                  </a:moveTo>
                  <a:lnTo>
                    <a:pt x="473185" y="0"/>
                  </a:lnTo>
                  <a:cubicBezTo>
                    <a:pt x="506688" y="0"/>
                    <a:pt x="533847" y="27160"/>
                    <a:pt x="533847" y="60662"/>
                  </a:cubicBezTo>
                  <a:lnTo>
                    <a:pt x="533847" y="501039"/>
                  </a:lnTo>
                  <a:cubicBezTo>
                    <a:pt x="533847" y="534542"/>
                    <a:pt x="506688" y="561702"/>
                    <a:pt x="473185" y="561702"/>
                  </a:cubicBezTo>
                  <a:lnTo>
                    <a:pt x="60662" y="561702"/>
                  </a:lnTo>
                  <a:cubicBezTo>
                    <a:pt x="27160" y="561702"/>
                    <a:pt x="0" y="534542"/>
                    <a:pt x="0" y="501039"/>
                  </a:cubicBezTo>
                  <a:lnTo>
                    <a:pt x="0" y="60662"/>
                  </a:lnTo>
                  <a:cubicBezTo>
                    <a:pt x="0" y="27160"/>
                    <a:pt x="27160" y="0"/>
                    <a:pt x="60662" y="0"/>
                  </a:cubicBezTo>
                  <a:close/>
                </a:path>
              </a:pathLst>
            </a:custGeom>
            <a:blipFill>
              <a:blip r:embed="rId2"/>
              <a:stretch>
                <a:fillRect l="-175" t="0" r="-175" b="0"/>
              </a:stretch>
            </a:blipFill>
          </p:spPr>
        </p:sp>
      </p:grpSp>
      <p:grpSp>
        <p:nvGrpSpPr>
          <p:cNvPr name="Group 10" id="10"/>
          <p:cNvGrpSpPr/>
          <p:nvPr/>
        </p:nvGrpSpPr>
        <p:grpSpPr>
          <a:xfrm rot="0">
            <a:off x="10158033" y="1313704"/>
            <a:ext cx="3445818" cy="3625608"/>
            <a:chOff x="0" y="0"/>
            <a:chExt cx="533847" cy="561702"/>
          </a:xfrm>
        </p:grpSpPr>
        <p:sp>
          <p:nvSpPr>
            <p:cNvPr name="Freeform 11" id="11"/>
            <p:cNvSpPr/>
            <p:nvPr/>
          </p:nvSpPr>
          <p:spPr>
            <a:xfrm flipH="false" flipV="false" rot="0">
              <a:off x="0" y="0"/>
              <a:ext cx="533847" cy="561702"/>
            </a:xfrm>
            <a:custGeom>
              <a:avLst/>
              <a:gdLst/>
              <a:ahLst/>
              <a:cxnLst/>
              <a:rect r="r" b="b" t="t" l="l"/>
              <a:pathLst>
                <a:path h="561702" w="533847">
                  <a:moveTo>
                    <a:pt x="60662" y="0"/>
                  </a:moveTo>
                  <a:lnTo>
                    <a:pt x="473185" y="0"/>
                  </a:lnTo>
                  <a:cubicBezTo>
                    <a:pt x="506688" y="0"/>
                    <a:pt x="533847" y="27160"/>
                    <a:pt x="533847" y="60662"/>
                  </a:cubicBezTo>
                  <a:lnTo>
                    <a:pt x="533847" y="501039"/>
                  </a:lnTo>
                  <a:cubicBezTo>
                    <a:pt x="533847" y="534542"/>
                    <a:pt x="506688" y="561702"/>
                    <a:pt x="473185" y="561702"/>
                  </a:cubicBezTo>
                  <a:lnTo>
                    <a:pt x="60662" y="561702"/>
                  </a:lnTo>
                  <a:cubicBezTo>
                    <a:pt x="27160" y="561702"/>
                    <a:pt x="0" y="534542"/>
                    <a:pt x="0" y="501039"/>
                  </a:cubicBezTo>
                  <a:lnTo>
                    <a:pt x="0" y="60662"/>
                  </a:lnTo>
                  <a:cubicBezTo>
                    <a:pt x="0" y="27160"/>
                    <a:pt x="27160" y="0"/>
                    <a:pt x="60662" y="0"/>
                  </a:cubicBezTo>
                  <a:close/>
                </a:path>
              </a:pathLst>
            </a:custGeom>
            <a:blipFill>
              <a:blip r:embed="rId3"/>
              <a:stretch>
                <a:fillRect l="-175" t="0" r="-175" b="0"/>
              </a:stretch>
            </a:blipFill>
          </p:spPr>
        </p:sp>
      </p:grpSp>
      <p:grpSp>
        <p:nvGrpSpPr>
          <p:cNvPr name="Group 12" id="12"/>
          <p:cNvGrpSpPr/>
          <p:nvPr/>
        </p:nvGrpSpPr>
        <p:grpSpPr>
          <a:xfrm rot="0">
            <a:off x="14006949" y="4224240"/>
            <a:ext cx="3445818" cy="4749056"/>
            <a:chOff x="0" y="0"/>
            <a:chExt cx="907540" cy="1250780"/>
          </a:xfrm>
        </p:grpSpPr>
        <p:sp>
          <p:nvSpPr>
            <p:cNvPr name="Freeform 13" id="13"/>
            <p:cNvSpPr/>
            <p:nvPr/>
          </p:nvSpPr>
          <p:spPr>
            <a:xfrm flipH="false" flipV="false" rot="0">
              <a:off x="0" y="0"/>
              <a:ext cx="907540" cy="1250780"/>
            </a:xfrm>
            <a:custGeom>
              <a:avLst/>
              <a:gdLst/>
              <a:ahLst/>
              <a:cxnLst/>
              <a:rect r="r" b="b" t="t" l="l"/>
              <a:pathLst>
                <a:path h="1250780" w="907540">
                  <a:moveTo>
                    <a:pt x="71896" y="0"/>
                  </a:moveTo>
                  <a:lnTo>
                    <a:pt x="835644" y="0"/>
                  </a:lnTo>
                  <a:cubicBezTo>
                    <a:pt x="875351" y="0"/>
                    <a:pt x="907540" y="32189"/>
                    <a:pt x="907540" y="71896"/>
                  </a:cubicBezTo>
                  <a:lnTo>
                    <a:pt x="907540" y="1178884"/>
                  </a:lnTo>
                  <a:cubicBezTo>
                    <a:pt x="907540" y="1197952"/>
                    <a:pt x="899966" y="1216239"/>
                    <a:pt x="886483" y="1229722"/>
                  </a:cubicBezTo>
                  <a:cubicBezTo>
                    <a:pt x="872999" y="1243205"/>
                    <a:pt x="854712" y="1250780"/>
                    <a:pt x="835644" y="1250780"/>
                  </a:cubicBezTo>
                  <a:lnTo>
                    <a:pt x="71896" y="1250780"/>
                  </a:lnTo>
                  <a:cubicBezTo>
                    <a:pt x="52828" y="1250780"/>
                    <a:pt x="34541" y="1243205"/>
                    <a:pt x="21058" y="1229722"/>
                  </a:cubicBezTo>
                  <a:cubicBezTo>
                    <a:pt x="7575" y="1216239"/>
                    <a:pt x="0" y="1197952"/>
                    <a:pt x="0" y="1178884"/>
                  </a:cubicBezTo>
                  <a:lnTo>
                    <a:pt x="0" y="71896"/>
                  </a:lnTo>
                  <a:cubicBezTo>
                    <a:pt x="0" y="52828"/>
                    <a:pt x="7575" y="34541"/>
                    <a:pt x="21058" y="21058"/>
                  </a:cubicBezTo>
                  <a:cubicBezTo>
                    <a:pt x="34541" y="7575"/>
                    <a:pt x="52828" y="0"/>
                    <a:pt x="71896" y="0"/>
                  </a:cubicBezTo>
                  <a:close/>
                </a:path>
              </a:pathLst>
            </a:custGeom>
            <a:solidFill>
              <a:srgbClr val="FFFFFF"/>
            </a:solidFill>
          </p:spPr>
        </p:sp>
        <p:sp>
          <p:nvSpPr>
            <p:cNvPr name="TextBox 14" id="14"/>
            <p:cNvSpPr txBox="true"/>
            <p:nvPr/>
          </p:nvSpPr>
          <p:spPr>
            <a:xfrm>
              <a:off x="0" y="-266700"/>
              <a:ext cx="907540" cy="1517480"/>
            </a:xfrm>
            <a:prstGeom prst="rect">
              <a:avLst/>
            </a:prstGeom>
          </p:spPr>
          <p:txBody>
            <a:bodyPr anchor="ctr" rtlCol="false" tIns="50800" lIns="50800" bIns="50800" rIns="50800"/>
            <a:lstStyle/>
            <a:p>
              <a:pPr algn="ctr" marL="0" indent="0" lvl="0">
                <a:lnSpc>
                  <a:spcPts val="4905"/>
                </a:lnSpc>
              </a:pPr>
            </a:p>
          </p:txBody>
        </p:sp>
      </p:grpSp>
      <p:grpSp>
        <p:nvGrpSpPr>
          <p:cNvPr name="Group 15" id="15"/>
          <p:cNvGrpSpPr/>
          <p:nvPr/>
        </p:nvGrpSpPr>
        <p:grpSpPr>
          <a:xfrm rot="0">
            <a:off x="14006949" y="1313704"/>
            <a:ext cx="3445818" cy="3625608"/>
            <a:chOff x="0" y="0"/>
            <a:chExt cx="533847" cy="561702"/>
          </a:xfrm>
        </p:grpSpPr>
        <p:sp>
          <p:nvSpPr>
            <p:cNvPr name="Freeform 16" id="16"/>
            <p:cNvSpPr/>
            <p:nvPr/>
          </p:nvSpPr>
          <p:spPr>
            <a:xfrm flipH="false" flipV="false" rot="0">
              <a:off x="0" y="0"/>
              <a:ext cx="533847" cy="561702"/>
            </a:xfrm>
            <a:custGeom>
              <a:avLst/>
              <a:gdLst/>
              <a:ahLst/>
              <a:cxnLst/>
              <a:rect r="r" b="b" t="t" l="l"/>
              <a:pathLst>
                <a:path h="561702" w="533847">
                  <a:moveTo>
                    <a:pt x="60662" y="0"/>
                  </a:moveTo>
                  <a:lnTo>
                    <a:pt x="473185" y="0"/>
                  </a:lnTo>
                  <a:cubicBezTo>
                    <a:pt x="506688" y="0"/>
                    <a:pt x="533847" y="27160"/>
                    <a:pt x="533847" y="60662"/>
                  </a:cubicBezTo>
                  <a:lnTo>
                    <a:pt x="533847" y="501039"/>
                  </a:lnTo>
                  <a:cubicBezTo>
                    <a:pt x="533847" y="534542"/>
                    <a:pt x="506688" y="561702"/>
                    <a:pt x="473185" y="561702"/>
                  </a:cubicBezTo>
                  <a:lnTo>
                    <a:pt x="60662" y="561702"/>
                  </a:lnTo>
                  <a:cubicBezTo>
                    <a:pt x="27160" y="561702"/>
                    <a:pt x="0" y="534542"/>
                    <a:pt x="0" y="501039"/>
                  </a:cubicBezTo>
                  <a:lnTo>
                    <a:pt x="0" y="60662"/>
                  </a:lnTo>
                  <a:cubicBezTo>
                    <a:pt x="0" y="27160"/>
                    <a:pt x="27160" y="0"/>
                    <a:pt x="60662" y="0"/>
                  </a:cubicBezTo>
                  <a:close/>
                </a:path>
              </a:pathLst>
            </a:custGeom>
            <a:blipFill>
              <a:blip r:embed="rId4"/>
              <a:stretch>
                <a:fillRect l="-175" t="0" r="-175" b="0"/>
              </a:stretch>
            </a:blipFill>
          </p:spPr>
        </p:sp>
      </p:grpSp>
      <p:sp>
        <p:nvSpPr>
          <p:cNvPr name="Freeform 17" id="17"/>
          <p:cNvSpPr/>
          <p:nvPr/>
        </p:nvSpPr>
        <p:spPr>
          <a:xfrm flipH="false" flipV="false" rot="5400000">
            <a:off x="15889328" y="-38100"/>
            <a:ext cx="2436772" cy="2436772"/>
          </a:xfrm>
          <a:custGeom>
            <a:avLst/>
            <a:gdLst/>
            <a:ahLst/>
            <a:cxnLst/>
            <a:rect r="r" b="b" t="t" l="l"/>
            <a:pathLst>
              <a:path h="2436772" w="2436772">
                <a:moveTo>
                  <a:pt x="0" y="0"/>
                </a:moveTo>
                <a:lnTo>
                  <a:pt x="2436772" y="0"/>
                </a:lnTo>
                <a:lnTo>
                  <a:pt x="2436772" y="2436772"/>
                </a:lnTo>
                <a:lnTo>
                  <a:pt x="0" y="24367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5400000">
            <a:off x="-19050" y="7878803"/>
            <a:ext cx="2436772" cy="2436772"/>
          </a:xfrm>
          <a:custGeom>
            <a:avLst/>
            <a:gdLst/>
            <a:ahLst/>
            <a:cxnLst/>
            <a:rect r="r" b="b" t="t" l="l"/>
            <a:pathLst>
              <a:path h="2436772" w="2436772">
                <a:moveTo>
                  <a:pt x="0" y="0"/>
                </a:moveTo>
                <a:lnTo>
                  <a:pt x="2436772" y="0"/>
                </a:lnTo>
                <a:lnTo>
                  <a:pt x="2436772" y="2436772"/>
                </a:lnTo>
                <a:lnTo>
                  <a:pt x="0" y="24367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9" id="19"/>
          <p:cNvSpPr txBox="true"/>
          <p:nvPr/>
        </p:nvSpPr>
        <p:spPr>
          <a:xfrm rot="0">
            <a:off x="1451499" y="4218811"/>
            <a:ext cx="5134857" cy="1778017"/>
          </a:xfrm>
          <a:prstGeom prst="rect">
            <a:avLst/>
          </a:prstGeom>
        </p:spPr>
        <p:txBody>
          <a:bodyPr anchor="t" rtlCol="false" tIns="0" lIns="0" bIns="0" rIns="0">
            <a:spAutoFit/>
          </a:bodyPr>
          <a:lstStyle/>
          <a:p>
            <a:pPr algn="l" marL="0" indent="0" lvl="0">
              <a:lnSpc>
                <a:spcPts val="6999"/>
              </a:lnSpc>
            </a:pPr>
            <a:r>
              <a:rPr lang="en-US" sz="4999">
                <a:solidFill>
                  <a:srgbClr val="FFFFFF"/>
                </a:solidFill>
                <a:latin typeface="Poppins"/>
                <a:ea typeface="Poppins"/>
                <a:cs typeface="Poppins"/>
                <a:sym typeface="Poppins"/>
              </a:rPr>
              <a:t>Platform</a:t>
            </a:r>
          </a:p>
          <a:p>
            <a:pPr algn="l" marL="0" indent="0" lvl="0">
              <a:lnSpc>
                <a:spcPts val="6999"/>
              </a:lnSpc>
            </a:pPr>
            <a:r>
              <a:rPr lang="en-US" sz="4999">
                <a:solidFill>
                  <a:srgbClr val="FFFFFF"/>
                </a:solidFill>
                <a:latin typeface="Poppins"/>
                <a:ea typeface="Poppins"/>
                <a:cs typeface="Poppins"/>
                <a:sym typeface="Poppins"/>
              </a:rPr>
              <a:t>Capabilities</a:t>
            </a:r>
          </a:p>
        </p:txBody>
      </p:sp>
      <p:sp>
        <p:nvSpPr>
          <p:cNvPr name="TextBox 20" id="20"/>
          <p:cNvSpPr txBox="true"/>
          <p:nvPr/>
        </p:nvSpPr>
        <p:spPr>
          <a:xfrm rot="0">
            <a:off x="6677664" y="5611854"/>
            <a:ext cx="2823023" cy="238353"/>
          </a:xfrm>
          <a:prstGeom prst="rect">
            <a:avLst/>
          </a:prstGeom>
        </p:spPr>
        <p:txBody>
          <a:bodyPr anchor="t" rtlCol="false" tIns="0" lIns="0" bIns="0" rIns="0">
            <a:spAutoFit/>
          </a:bodyPr>
          <a:lstStyle/>
          <a:p>
            <a:pPr algn="l" marL="0" indent="0" lvl="0">
              <a:lnSpc>
                <a:spcPts val="1830"/>
              </a:lnSpc>
            </a:pPr>
            <a:r>
              <a:rPr lang="en-US" b="true" sz="1464" spc="111">
                <a:solidFill>
                  <a:srgbClr val="283B44"/>
                </a:solidFill>
                <a:latin typeface="Poppins Bold"/>
                <a:ea typeface="Poppins Bold"/>
                <a:cs typeface="Poppins Bold"/>
                <a:sym typeface="Poppins Bold"/>
              </a:rPr>
              <a:t>Product &amp; Policy Rules</a:t>
            </a:r>
          </a:p>
        </p:txBody>
      </p:sp>
      <p:sp>
        <p:nvSpPr>
          <p:cNvPr name="TextBox 21" id="21"/>
          <p:cNvSpPr txBox="true"/>
          <p:nvPr/>
        </p:nvSpPr>
        <p:spPr>
          <a:xfrm rot="0">
            <a:off x="10526580" y="5611854"/>
            <a:ext cx="2823023" cy="239084"/>
          </a:xfrm>
          <a:prstGeom prst="rect">
            <a:avLst/>
          </a:prstGeom>
        </p:spPr>
        <p:txBody>
          <a:bodyPr anchor="t" rtlCol="false" tIns="0" lIns="0" bIns="0" rIns="0">
            <a:spAutoFit/>
          </a:bodyPr>
          <a:lstStyle/>
          <a:p>
            <a:pPr algn="l" marL="0" indent="0" lvl="0">
              <a:lnSpc>
                <a:spcPts val="1830"/>
              </a:lnSpc>
            </a:pPr>
            <a:r>
              <a:rPr lang="en-US" b="true" sz="1464" spc="111">
                <a:solidFill>
                  <a:srgbClr val="283B44"/>
                </a:solidFill>
                <a:latin typeface="Poppins Bold"/>
                <a:ea typeface="Poppins Bold"/>
                <a:cs typeface="Poppins Bold"/>
                <a:sym typeface="Poppins Bold"/>
              </a:rPr>
              <a:t>Automated Workflows</a:t>
            </a:r>
          </a:p>
        </p:txBody>
      </p:sp>
      <p:sp>
        <p:nvSpPr>
          <p:cNvPr name="TextBox 22" id="22"/>
          <p:cNvSpPr txBox="true"/>
          <p:nvPr/>
        </p:nvSpPr>
        <p:spPr>
          <a:xfrm rot="0">
            <a:off x="6677664" y="6105748"/>
            <a:ext cx="2555220" cy="1344861"/>
          </a:xfrm>
          <a:prstGeom prst="rect">
            <a:avLst/>
          </a:prstGeom>
        </p:spPr>
        <p:txBody>
          <a:bodyPr anchor="t" rtlCol="false" tIns="0" lIns="0" bIns="0" rIns="0">
            <a:spAutoFit/>
          </a:bodyPr>
          <a:lstStyle/>
          <a:p>
            <a:pPr algn="l" marL="0" indent="0" lvl="0">
              <a:lnSpc>
                <a:spcPts val="1513"/>
              </a:lnSpc>
            </a:pPr>
            <a:r>
              <a:rPr lang="en-US" sz="1210" spc="15">
                <a:solidFill>
                  <a:srgbClr val="283B44"/>
                </a:solidFill>
                <a:latin typeface="DM Sans"/>
                <a:ea typeface="DM Sans"/>
                <a:cs typeface="DM Sans"/>
                <a:sym typeface="DM Sans"/>
              </a:rPr>
              <a:t>Fully configurable loan product parameters including LTV ratios, collateral types, interest rate models, and margin call thresholds. Policy rules adapt dynamically to crypto asset volatility and borrower risk profiles.</a:t>
            </a:r>
          </a:p>
        </p:txBody>
      </p:sp>
      <p:sp>
        <p:nvSpPr>
          <p:cNvPr name="TextBox 23" id="23"/>
          <p:cNvSpPr txBox="true"/>
          <p:nvPr/>
        </p:nvSpPr>
        <p:spPr>
          <a:xfrm rot="0">
            <a:off x="10526580" y="6105748"/>
            <a:ext cx="2555220" cy="1344861"/>
          </a:xfrm>
          <a:prstGeom prst="rect">
            <a:avLst/>
          </a:prstGeom>
        </p:spPr>
        <p:txBody>
          <a:bodyPr anchor="t" rtlCol="false" tIns="0" lIns="0" bIns="0" rIns="0">
            <a:spAutoFit/>
          </a:bodyPr>
          <a:lstStyle/>
          <a:p>
            <a:pPr algn="l" marL="0" indent="0" lvl="0">
              <a:lnSpc>
                <a:spcPts val="1513"/>
              </a:lnSpc>
            </a:pPr>
            <a:r>
              <a:rPr lang="en-US" sz="1210" spc="15">
                <a:solidFill>
                  <a:srgbClr val="283B44"/>
                </a:solidFill>
                <a:latin typeface="DM Sans"/>
                <a:ea typeface="DM Sans"/>
                <a:cs typeface="DM Sans"/>
                <a:sym typeface="DM Sans"/>
              </a:rPr>
              <a:t>AI-driven decision engines automate credit scoring, collateral valuation, and loan origination workflows. Real-time triggers manage liquidation events, repayment schedules, and borrower notifications end-to-end.</a:t>
            </a:r>
          </a:p>
        </p:txBody>
      </p:sp>
      <p:sp>
        <p:nvSpPr>
          <p:cNvPr name="TextBox 24" id="24"/>
          <p:cNvSpPr txBox="true"/>
          <p:nvPr/>
        </p:nvSpPr>
        <p:spPr>
          <a:xfrm rot="0">
            <a:off x="14375497" y="5587727"/>
            <a:ext cx="2823023" cy="239084"/>
          </a:xfrm>
          <a:prstGeom prst="rect">
            <a:avLst/>
          </a:prstGeom>
        </p:spPr>
        <p:txBody>
          <a:bodyPr anchor="t" rtlCol="false" tIns="0" lIns="0" bIns="0" rIns="0">
            <a:spAutoFit/>
          </a:bodyPr>
          <a:lstStyle/>
          <a:p>
            <a:pPr algn="l" marL="0" indent="0" lvl="0">
              <a:lnSpc>
                <a:spcPts val="1830"/>
              </a:lnSpc>
            </a:pPr>
            <a:r>
              <a:rPr lang="en-US" b="true" sz="1464" spc="111">
                <a:solidFill>
                  <a:srgbClr val="283B44"/>
                </a:solidFill>
                <a:latin typeface="Poppins Bold"/>
                <a:ea typeface="Poppins Bold"/>
                <a:cs typeface="Poppins Bold"/>
                <a:sym typeface="Poppins Bold"/>
              </a:rPr>
              <a:t>Compliance &amp; Audit</a:t>
            </a:r>
          </a:p>
        </p:txBody>
      </p:sp>
      <p:sp>
        <p:nvSpPr>
          <p:cNvPr name="TextBox 25" id="25"/>
          <p:cNvSpPr txBox="true"/>
          <p:nvPr/>
        </p:nvSpPr>
        <p:spPr>
          <a:xfrm rot="0">
            <a:off x="14375497" y="6210523"/>
            <a:ext cx="2555220" cy="1344861"/>
          </a:xfrm>
          <a:prstGeom prst="rect">
            <a:avLst/>
          </a:prstGeom>
        </p:spPr>
        <p:txBody>
          <a:bodyPr anchor="t" rtlCol="false" tIns="0" lIns="0" bIns="0" rIns="0">
            <a:spAutoFit/>
          </a:bodyPr>
          <a:lstStyle/>
          <a:p>
            <a:pPr algn="l" marL="0" indent="0" lvl="0">
              <a:lnSpc>
                <a:spcPts val="1513"/>
              </a:lnSpc>
            </a:pPr>
            <a:r>
              <a:rPr lang="en-US" sz="1210" spc="15">
                <a:solidFill>
                  <a:srgbClr val="283B44"/>
                </a:solidFill>
                <a:latin typeface="DM Sans"/>
                <a:ea typeface="DM Sans"/>
                <a:cs typeface="DM Sans"/>
                <a:sym typeface="DM Sans"/>
              </a:rPr>
              <a:t>Built-in regulatory compliance with full auditability across all loan lifecycle events. Automated document generation, e-signature integration, and immutable audit trails ensure readiness for financial regulators.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83B44"/>
        </a:solidFill>
      </p:bgPr>
    </p:bg>
    <p:spTree>
      <p:nvGrpSpPr>
        <p:cNvPr id="1" name=""/>
        <p:cNvGrpSpPr/>
        <p:nvPr/>
      </p:nvGrpSpPr>
      <p:grpSpPr>
        <a:xfrm>
          <a:off x="0" y="0"/>
          <a:ext cx="0" cy="0"/>
          <a:chOff x="0" y="0"/>
          <a:chExt cx="0" cy="0"/>
        </a:xfrm>
      </p:grpSpPr>
      <p:grpSp>
        <p:nvGrpSpPr>
          <p:cNvPr name="Group 2" id="2"/>
          <p:cNvGrpSpPr/>
          <p:nvPr/>
        </p:nvGrpSpPr>
        <p:grpSpPr>
          <a:xfrm rot="0">
            <a:off x="12964506" y="-1156407"/>
            <a:ext cx="6886646" cy="7069097"/>
            <a:chOff x="0" y="0"/>
            <a:chExt cx="1813767" cy="1861820"/>
          </a:xfrm>
        </p:grpSpPr>
        <p:sp>
          <p:nvSpPr>
            <p:cNvPr name="Freeform 3" id="3"/>
            <p:cNvSpPr/>
            <p:nvPr/>
          </p:nvSpPr>
          <p:spPr>
            <a:xfrm flipH="false" flipV="false" rot="0">
              <a:off x="0" y="0"/>
              <a:ext cx="1813767" cy="1861820"/>
            </a:xfrm>
            <a:custGeom>
              <a:avLst/>
              <a:gdLst/>
              <a:ahLst/>
              <a:cxnLst/>
              <a:rect r="r" b="b" t="t" l="l"/>
              <a:pathLst>
                <a:path h="1861820" w="1813767">
                  <a:moveTo>
                    <a:pt x="0" y="0"/>
                  </a:moveTo>
                  <a:lnTo>
                    <a:pt x="1813767" y="0"/>
                  </a:lnTo>
                  <a:lnTo>
                    <a:pt x="1813767" y="1861820"/>
                  </a:lnTo>
                  <a:lnTo>
                    <a:pt x="0" y="1861820"/>
                  </a:lnTo>
                  <a:close/>
                </a:path>
              </a:pathLst>
            </a:custGeom>
            <a:solidFill>
              <a:srgbClr val="FFFFFF"/>
            </a:solidFill>
          </p:spPr>
        </p:sp>
        <p:sp>
          <p:nvSpPr>
            <p:cNvPr name="TextBox 4" id="4"/>
            <p:cNvSpPr txBox="true"/>
            <p:nvPr/>
          </p:nvSpPr>
          <p:spPr>
            <a:xfrm>
              <a:off x="0" y="-76200"/>
              <a:ext cx="1813767" cy="1938020"/>
            </a:xfrm>
            <a:prstGeom prst="rect">
              <a:avLst/>
            </a:prstGeom>
          </p:spPr>
          <p:txBody>
            <a:bodyPr anchor="ctr" rtlCol="false" tIns="50800" lIns="50800" bIns="50800" rIns="50800"/>
            <a:lstStyle/>
            <a:p>
              <a:pPr algn="ctr" marL="0" indent="0" lvl="0">
                <a:lnSpc>
                  <a:spcPts val="2921"/>
                </a:lnSpc>
              </a:pPr>
            </a:p>
          </p:txBody>
        </p:sp>
      </p:grpSp>
      <p:sp>
        <p:nvSpPr>
          <p:cNvPr name="TextBox 5" id="5"/>
          <p:cNvSpPr txBox="true"/>
          <p:nvPr/>
        </p:nvSpPr>
        <p:spPr>
          <a:xfrm rot="0">
            <a:off x="1374239" y="1550778"/>
            <a:ext cx="9963616" cy="1579959"/>
          </a:xfrm>
          <a:prstGeom prst="rect">
            <a:avLst/>
          </a:prstGeom>
        </p:spPr>
        <p:txBody>
          <a:bodyPr anchor="t" rtlCol="false" tIns="0" lIns="0" bIns="0" rIns="0">
            <a:spAutoFit/>
          </a:bodyPr>
          <a:lstStyle/>
          <a:p>
            <a:pPr algn="l" marL="0" indent="0" lvl="0">
              <a:lnSpc>
                <a:spcPts val="5965"/>
              </a:lnSpc>
            </a:pPr>
            <a:r>
              <a:rPr lang="en-US" sz="5523">
                <a:solidFill>
                  <a:srgbClr val="FFFFFF"/>
                </a:solidFill>
                <a:latin typeface="Poppins"/>
                <a:ea typeface="Poppins"/>
                <a:cs typeface="Poppins"/>
                <a:sym typeface="Poppins"/>
              </a:rPr>
              <a:t>Loan Management System (LMS)</a:t>
            </a:r>
          </a:p>
        </p:txBody>
      </p:sp>
      <p:sp>
        <p:nvSpPr>
          <p:cNvPr name="TextBox 6" id="6"/>
          <p:cNvSpPr txBox="true"/>
          <p:nvPr/>
        </p:nvSpPr>
        <p:spPr>
          <a:xfrm rot="0">
            <a:off x="1183588" y="3792535"/>
            <a:ext cx="381301" cy="184962"/>
          </a:xfrm>
          <a:prstGeom prst="rect">
            <a:avLst/>
          </a:prstGeom>
        </p:spPr>
        <p:txBody>
          <a:bodyPr anchor="t" rtlCol="false" tIns="0" lIns="0" bIns="0" rIns="0">
            <a:spAutoFit/>
          </a:bodyPr>
          <a:lstStyle/>
          <a:p>
            <a:pPr algn="ctr" marL="0" indent="0" lvl="0">
              <a:lnSpc>
                <a:spcPts val="1389"/>
              </a:lnSpc>
            </a:pPr>
            <a:r>
              <a:rPr lang="en-US" sz="1286">
                <a:solidFill>
                  <a:srgbClr val="FFFFFF"/>
                </a:solidFill>
                <a:latin typeface="Poppins"/>
                <a:ea typeface="Poppins"/>
                <a:cs typeface="Poppins"/>
                <a:sym typeface="Poppins"/>
              </a:rPr>
              <a:t>1</a:t>
            </a:r>
          </a:p>
        </p:txBody>
      </p:sp>
      <p:sp>
        <p:nvSpPr>
          <p:cNvPr name="TextBox 7" id="7"/>
          <p:cNvSpPr txBox="true"/>
          <p:nvPr/>
        </p:nvSpPr>
        <p:spPr>
          <a:xfrm rot="0">
            <a:off x="1985975" y="3763960"/>
            <a:ext cx="3873816" cy="201907"/>
          </a:xfrm>
          <a:prstGeom prst="rect">
            <a:avLst/>
          </a:prstGeom>
        </p:spPr>
        <p:txBody>
          <a:bodyPr anchor="t" rtlCol="false" tIns="0" lIns="0" bIns="0" rIns="0">
            <a:spAutoFit/>
          </a:bodyPr>
          <a:lstStyle/>
          <a:p>
            <a:pPr algn="l" marL="0" indent="0" lvl="0">
              <a:lnSpc>
                <a:spcPts val="1483"/>
              </a:lnSpc>
            </a:pPr>
            <a:r>
              <a:rPr lang="en-US" sz="1373">
                <a:solidFill>
                  <a:srgbClr val="FFFFFF"/>
                </a:solidFill>
                <a:latin typeface="Poppins"/>
                <a:ea typeface="Poppins"/>
                <a:cs typeface="Poppins"/>
                <a:sym typeface="Poppins"/>
              </a:rPr>
              <a:t>Repayment Schedules &amp; Servicing</a:t>
            </a:r>
          </a:p>
        </p:txBody>
      </p:sp>
      <p:sp>
        <p:nvSpPr>
          <p:cNvPr name="TextBox 8" id="8"/>
          <p:cNvSpPr txBox="true"/>
          <p:nvPr/>
        </p:nvSpPr>
        <p:spPr>
          <a:xfrm rot="0">
            <a:off x="1985975" y="4313523"/>
            <a:ext cx="4071756" cy="990365"/>
          </a:xfrm>
          <a:prstGeom prst="rect">
            <a:avLst/>
          </a:prstGeom>
        </p:spPr>
        <p:txBody>
          <a:bodyPr anchor="t" rtlCol="false" tIns="0" lIns="0" bIns="0" rIns="0">
            <a:spAutoFit/>
          </a:bodyPr>
          <a:lstStyle/>
          <a:p>
            <a:pPr algn="l" marL="0" indent="0" lvl="0">
              <a:lnSpc>
                <a:spcPts val="1587"/>
              </a:lnSpc>
            </a:pPr>
            <a:r>
              <a:rPr lang="en-US" sz="1134" spc="85">
                <a:solidFill>
                  <a:srgbClr val="FFFFFF"/>
                </a:solidFill>
                <a:latin typeface="DM Sans"/>
                <a:ea typeface="DM Sans"/>
                <a:cs typeface="DM Sans"/>
                <a:sym typeface="DM Sans"/>
              </a:rPr>
              <a:t>Automated amortization schedules for crypto-backed loans with flexible repayment terms. Supports bullet, interest-only, and installment structures with real-time borrower dashboards and payment tracking.</a:t>
            </a:r>
          </a:p>
        </p:txBody>
      </p:sp>
      <p:sp>
        <p:nvSpPr>
          <p:cNvPr name="TextBox 9" id="9"/>
          <p:cNvSpPr txBox="true"/>
          <p:nvPr/>
        </p:nvSpPr>
        <p:spPr>
          <a:xfrm rot="0">
            <a:off x="1183588" y="6558500"/>
            <a:ext cx="381301" cy="184962"/>
          </a:xfrm>
          <a:prstGeom prst="rect">
            <a:avLst/>
          </a:prstGeom>
        </p:spPr>
        <p:txBody>
          <a:bodyPr anchor="t" rtlCol="false" tIns="0" lIns="0" bIns="0" rIns="0">
            <a:spAutoFit/>
          </a:bodyPr>
          <a:lstStyle/>
          <a:p>
            <a:pPr algn="ctr" marL="0" indent="0" lvl="0">
              <a:lnSpc>
                <a:spcPts val="1389"/>
              </a:lnSpc>
            </a:pPr>
            <a:r>
              <a:rPr lang="en-US" sz="1286">
                <a:solidFill>
                  <a:srgbClr val="FFFFFF"/>
                </a:solidFill>
                <a:latin typeface="Poppins"/>
                <a:ea typeface="Poppins"/>
                <a:cs typeface="Poppins"/>
                <a:sym typeface="Poppins"/>
              </a:rPr>
              <a:t>3</a:t>
            </a:r>
          </a:p>
        </p:txBody>
      </p:sp>
      <p:sp>
        <p:nvSpPr>
          <p:cNvPr name="TextBox 10" id="10"/>
          <p:cNvSpPr txBox="true"/>
          <p:nvPr/>
        </p:nvSpPr>
        <p:spPr>
          <a:xfrm rot="0">
            <a:off x="1985975" y="6529925"/>
            <a:ext cx="4163048" cy="201907"/>
          </a:xfrm>
          <a:prstGeom prst="rect">
            <a:avLst/>
          </a:prstGeom>
        </p:spPr>
        <p:txBody>
          <a:bodyPr anchor="t" rtlCol="false" tIns="0" lIns="0" bIns="0" rIns="0">
            <a:spAutoFit/>
          </a:bodyPr>
          <a:lstStyle/>
          <a:p>
            <a:pPr algn="l" marL="0" indent="0" lvl="0">
              <a:lnSpc>
                <a:spcPts val="1483"/>
              </a:lnSpc>
            </a:pPr>
            <a:r>
              <a:rPr lang="en-US" sz="1373">
                <a:solidFill>
                  <a:srgbClr val="FFFFFF"/>
                </a:solidFill>
                <a:latin typeface="Poppins"/>
                <a:ea typeface="Poppins"/>
                <a:cs typeface="Poppins"/>
                <a:sym typeface="Poppins"/>
              </a:rPr>
              <a:t>Collateral Monitoring &amp; Margin Calls</a:t>
            </a:r>
          </a:p>
        </p:txBody>
      </p:sp>
      <p:sp>
        <p:nvSpPr>
          <p:cNvPr name="TextBox 11" id="11"/>
          <p:cNvSpPr txBox="true"/>
          <p:nvPr/>
        </p:nvSpPr>
        <p:spPr>
          <a:xfrm rot="0">
            <a:off x="1985975" y="7079488"/>
            <a:ext cx="4071756" cy="790340"/>
          </a:xfrm>
          <a:prstGeom prst="rect">
            <a:avLst/>
          </a:prstGeom>
        </p:spPr>
        <p:txBody>
          <a:bodyPr anchor="t" rtlCol="false" tIns="0" lIns="0" bIns="0" rIns="0">
            <a:spAutoFit/>
          </a:bodyPr>
          <a:lstStyle/>
          <a:p>
            <a:pPr algn="l" marL="0" indent="0" lvl="0">
              <a:lnSpc>
                <a:spcPts val="1587"/>
              </a:lnSpc>
            </a:pPr>
            <a:r>
              <a:rPr lang="en-US" sz="1134" spc="85">
                <a:solidFill>
                  <a:srgbClr val="FFFFFF"/>
                </a:solidFill>
                <a:latin typeface="DM Sans"/>
                <a:ea typeface="DM Sans"/>
                <a:cs typeface="DM Sans"/>
                <a:sym typeface="DM Sans"/>
              </a:rPr>
              <a:t>24/7 real-time LTV monitoring across crypto collateral positions. Automated margin call triggers at defined thresholds with multi-channel borrower alerts and configurable liquidation waterfalls.</a:t>
            </a:r>
          </a:p>
        </p:txBody>
      </p:sp>
      <p:sp>
        <p:nvSpPr>
          <p:cNvPr name="TextBox 12" id="12"/>
          <p:cNvSpPr txBox="true"/>
          <p:nvPr/>
        </p:nvSpPr>
        <p:spPr>
          <a:xfrm rot="0">
            <a:off x="6568122" y="3792535"/>
            <a:ext cx="381301" cy="184962"/>
          </a:xfrm>
          <a:prstGeom prst="rect">
            <a:avLst/>
          </a:prstGeom>
        </p:spPr>
        <p:txBody>
          <a:bodyPr anchor="t" rtlCol="false" tIns="0" lIns="0" bIns="0" rIns="0">
            <a:spAutoFit/>
          </a:bodyPr>
          <a:lstStyle/>
          <a:p>
            <a:pPr algn="ctr" marL="0" indent="0" lvl="0">
              <a:lnSpc>
                <a:spcPts val="1389"/>
              </a:lnSpc>
            </a:pPr>
            <a:r>
              <a:rPr lang="en-US" sz="1286">
                <a:solidFill>
                  <a:srgbClr val="FFFFFF"/>
                </a:solidFill>
                <a:latin typeface="Poppins"/>
                <a:ea typeface="Poppins"/>
                <a:cs typeface="Poppins"/>
                <a:sym typeface="Poppins"/>
              </a:rPr>
              <a:t>2</a:t>
            </a:r>
          </a:p>
        </p:txBody>
      </p:sp>
      <p:sp>
        <p:nvSpPr>
          <p:cNvPr name="TextBox 13" id="13"/>
          <p:cNvSpPr txBox="true"/>
          <p:nvPr/>
        </p:nvSpPr>
        <p:spPr>
          <a:xfrm rot="0">
            <a:off x="7370509" y="3763960"/>
            <a:ext cx="3751234" cy="201907"/>
          </a:xfrm>
          <a:prstGeom prst="rect">
            <a:avLst/>
          </a:prstGeom>
        </p:spPr>
        <p:txBody>
          <a:bodyPr anchor="t" rtlCol="false" tIns="0" lIns="0" bIns="0" rIns="0">
            <a:spAutoFit/>
          </a:bodyPr>
          <a:lstStyle/>
          <a:p>
            <a:pPr algn="l" marL="0" indent="0" lvl="0">
              <a:lnSpc>
                <a:spcPts val="1483"/>
              </a:lnSpc>
            </a:pPr>
            <a:r>
              <a:rPr lang="en-US" sz="1373">
                <a:solidFill>
                  <a:srgbClr val="FFFFFF"/>
                </a:solidFill>
                <a:latin typeface="Poppins"/>
                <a:ea typeface="Poppins"/>
                <a:cs typeface="Poppins"/>
                <a:sym typeface="Poppins"/>
              </a:rPr>
              <a:t>Interest, Fees &amp; Accruals</a:t>
            </a:r>
          </a:p>
        </p:txBody>
      </p:sp>
      <p:sp>
        <p:nvSpPr>
          <p:cNvPr name="TextBox 14" id="14"/>
          <p:cNvSpPr txBox="true"/>
          <p:nvPr/>
        </p:nvSpPr>
        <p:spPr>
          <a:xfrm rot="0">
            <a:off x="7370509" y="4313523"/>
            <a:ext cx="3785093" cy="990365"/>
          </a:xfrm>
          <a:prstGeom prst="rect">
            <a:avLst/>
          </a:prstGeom>
        </p:spPr>
        <p:txBody>
          <a:bodyPr anchor="t" rtlCol="false" tIns="0" lIns="0" bIns="0" rIns="0">
            <a:spAutoFit/>
          </a:bodyPr>
          <a:lstStyle/>
          <a:p>
            <a:pPr algn="l" marL="0" indent="0" lvl="0">
              <a:lnSpc>
                <a:spcPts val="1587"/>
              </a:lnSpc>
            </a:pPr>
            <a:r>
              <a:rPr lang="en-US" sz="1134" spc="85">
                <a:solidFill>
                  <a:srgbClr val="FFFFFF"/>
                </a:solidFill>
                <a:latin typeface="DM Sans"/>
                <a:ea typeface="DM Sans"/>
                <a:cs typeface="DM Sans"/>
                <a:sym typeface="DM Sans"/>
              </a:rPr>
              <a:t>Dynamic interest accrual engine supporting fixed, variable, and tiered rate models. Automated fee computation — origination, late payment, and prepayment — with full GL-ready accounting entries.</a:t>
            </a:r>
          </a:p>
        </p:txBody>
      </p:sp>
      <p:sp>
        <p:nvSpPr>
          <p:cNvPr name="TextBox 15" id="15"/>
          <p:cNvSpPr txBox="true"/>
          <p:nvPr/>
        </p:nvSpPr>
        <p:spPr>
          <a:xfrm rot="0">
            <a:off x="6568122" y="6558500"/>
            <a:ext cx="381301" cy="184962"/>
          </a:xfrm>
          <a:prstGeom prst="rect">
            <a:avLst/>
          </a:prstGeom>
        </p:spPr>
        <p:txBody>
          <a:bodyPr anchor="t" rtlCol="false" tIns="0" lIns="0" bIns="0" rIns="0">
            <a:spAutoFit/>
          </a:bodyPr>
          <a:lstStyle/>
          <a:p>
            <a:pPr algn="ctr" marL="0" indent="0" lvl="0">
              <a:lnSpc>
                <a:spcPts val="1389"/>
              </a:lnSpc>
            </a:pPr>
            <a:r>
              <a:rPr lang="en-US" sz="1286">
                <a:solidFill>
                  <a:srgbClr val="FFFFFF"/>
                </a:solidFill>
                <a:latin typeface="Poppins"/>
                <a:ea typeface="Poppins"/>
                <a:cs typeface="Poppins"/>
                <a:sym typeface="Poppins"/>
              </a:rPr>
              <a:t>4</a:t>
            </a:r>
          </a:p>
        </p:txBody>
      </p:sp>
      <p:sp>
        <p:nvSpPr>
          <p:cNvPr name="TextBox 16" id="16"/>
          <p:cNvSpPr txBox="true"/>
          <p:nvPr/>
        </p:nvSpPr>
        <p:spPr>
          <a:xfrm rot="0">
            <a:off x="7370509" y="6529925"/>
            <a:ext cx="3314244" cy="382882"/>
          </a:xfrm>
          <a:prstGeom prst="rect">
            <a:avLst/>
          </a:prstGeom>
        </p:spPr>
        <p:txBody>
          <a:bodyPr anchor="t" rtlCol="false" tIns="0" lIns="0" bIns="0" rIns="0">
            <a:spAutoFit/>
          </a:bodyPr>
          <a:lstStyle/>
          <a:p>
            <a:pPr algn="l" marL="0" indent="0" lvl="0">
              <a:lnSpc>
                <a:spcPts val="1483"/>
              </a:lnSpc>
            </a:pPr>
            <a:r>
              <a:rPr lang="en-US" sz="1373">
                <a:solidFill>
                  <a:srgbClr val="FFFFFF"/>
                </a:solidFill>
                <a:latin typeface="Poppins"/>
                <a:ea typeface="Poppins"/>
                <a:cs typeface="Poppins"/>
                <a:sym typeface="Poppins"/>
              </a:rPr>
              <a:t>Delinquency, Restructuring &amp; Collections</a:t>
            </a:r>
          </a:p>
        </p:txBody>
      </p:sp>
      <p:sp>
        <p:nvSpPr>
          <p:cNvPr name="TextBox 17" id="17"/>
          <p:cNvSpPr txBox="true"/>
          <p:nvPr/>
        </p:nvSpPr>
        <p:spPr>
          <a:xfrm rot="0">
            <a:off x="7370509" y="7079488"/>
            <a:ext cx="3785093" cy="990365"/>
          </a:xfrm>
          <a:prstGeom prst="rect">
            <a:avLst/>
          </a:prstGeom>
        </p:spPr>
        <p:txBody>
          <a:bodyPr anchor="t" rtlCol="false" tIns="0" lIns="0" bIns="0" rIns="0">
            <a:spAutoFit/>
          </a:bodyPr>
          <a:lstStyle/>
          <a:p>
            <a:pPr algn="l" marL="0" indent="0" lvl="0">
              <a:lnSpc>
                <a:spcPts val="1587"/>
              </a:lnSpc>
            </a:pPr>
            <a:r>
              <a:rPr lang="en-US" sz="1134" spc="85">
                <a:solidFill>
                  <a:srgbClr val="FFFFFF"/>
                </a:solidFill>
                <a:latin typeface="DM Sans"/>
                <a:ea typeface="DM Sans"/>
                <a:cs typeface="DM Sans"/>
                <a:sym typeface="DM Sans"/>
              </a:rPr>
              <a:t>Rule-based delinquency workflows with automated escalation, cure period management, and restructuring options. Integrated collections module supports collateral liquidation and recovery tracking for non-performing loans.</a:t>
            </a:r>
          </a:p>
        </p:txBody>
      </p:sp>
      <p:grpSp>
        <p:nvGrpSpPr>
          <p:cNvPr name="Group 18" id="18"/>
          <p:cNvGrpSpPr/>
          <p:nvPr/>
        </p:nvGrpSpPr>
        <p:grpSpPr>
          <a:xfrm rot="0">
            <a:off x="11761243" y="1758641"/>
            <a:ext cx="5719924" cy="6692213"/>
            <a:chOff x="0" y="0"/>
            <a:chExt cx="1027690" cy="1202380"/>
          </a:xfrm>
        </p:grpSpPr>
        <p:sp>
          <p:nvSpPr>
            <p:cNvPr name="Freeform 19" id="19"/>
            <p:cNvSpPr/>
            <p:nvPr/>
          </p:nvSpPr>
          <p:spPr>
            <a:xfrm flipH="false" flipV="false" rot="0">
              <a:off x="0" y="0"/>
              <a:ext cx="1027690" cy="1202380"/>
            </a:xfrm>
            <a:custGeom>
              <a:avLst/>
              <a:gdLst/>
              <a:ahLst/>
              <a:cxnLst/>
              <a:rect r="r" b="b" t="t" l="l"/>
              <a:pathLst>
                <a:path h="1202380" w="1027690">
                  <a:moveTo>
                    <a:pt x="135350" y="0"/>
                  </a:moveTo>
                  <a:lnTo>
                    <a:pt x="892340" y="0"/>
                  </a:lnTo>
                  <a:cubicBezTo>
                    <a:pt x="967092" y="0"/>
                    <a:pt x="1027690" y="60598"/>
                    <a:pt x="1027690" y="135350"/>
                  </a:cubicBezTo>
                  <a:lnTo>
                    <a:pt x="1027690" y="1067030"/>
                  </a:lnTo>
                  <a:cubicBezTo>
                    <a:pt x="1027690" y="1141782"/>
                    <a:pt x="967092" y="1202380"/>
                    <a:pt x="892340" y="1202380"/>
                  </a:cubicBezTo>
                  <a:lnTo>
                    <a:pt x="135350" y="1202380"/>
                  </a:lnTo>
                  <a:cubicBezTo>
                    <a:pt x="60598" y="1202380"/>
                    <a:pt x="0" y="1141782"/>
                    <a:pt x="0" y="1067030"/>
                  </a:cubicBezTo>
                  <a:lnTo>
                    <a:pt x="0" y="135350"/>
                  </a:lnTo>
                  <a:cubicBezTo>
                    <a:pt x="0" y="60598"/>
                    <a:pt x="60598" y="0"/>
                    <a:pt x="135350" y="0"/>
                  </a:cubicBezTo>
                  <a:close/>
                </a:path>
              </a:pathLst>
            </a:custGeom>
            <a:blipFill>
              <a:blip r:embed="rId2"/>
              <a:stretch>
                <a:fillRect l="-89" t="0" r="-89" b="0"/>
              </a:stretch>
            </a:blipFill>
          </p:spPr>
        </p:sp>
      </p:grpSp>
      <p:sp>
        <p:nvSpPr>
          <p:cNvPr name="Freeform 20" id="20"/>
          <p:cNvSpPr/>
          <p:nvPr/>
        </p:nvSpPr>
        <p:spPr>
          <a:xfrm flipH="false" flipV="false" rot="5400000">
            <a:off x="15889328" y="-38100"/>
            <a:ext cx="2436772" cy="2436772"/>
          </a:xfrm>
          <a:custGeom>
            <a:avLst/>
            <a:gdLst/>
            <a:ahLst/>
            <a:cxnLst/>
            <a:rect r="r" b="b" t="t" l="l"/>
            <a:pathLst>
              <a:path h="2436772" w="2436772">
                <a:moveTo>
                  <a:pt x="0" y="0"/>
                </a:moveTo>
                <a:lnTo>
                  <a:pt x="2436772" y="0"/>
                </a:lnTo>
                <a:lnTo>
                  <a:pt x="2436772" y="2436772"/>
                </a:lnTo>
                <a:lnTo>
                  <a:pt x="0" y="24367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21" id="21"/>
          <p:cNvSpPr/>
          <p:nvPr/>
        </p:nvSpPr>
        <p:spPr>
          <a:xfrm flipH="false" flipV="false" rot="-5400000">
            <a:off x="-19050" y="7878803"/>
            <a:ext cx="2436772" cy="2436772"/>
          </a:xfrm>
          <a:custGeom>
            <a:avLst/>
            <a:gdLst/>
            <a:ahLst/>
            <a:cxnLst/>
            <a:rect r="r" b="b" t="t" l="l"/>
            <a:pathLst>
              <a:path h="2436772" w="2436772">
                <a:moveTo>
                  <a:pt x="0" y="0"/>
                </a:moveTo>
                <a:lnTo>
                  <a:pt x="2436772" y="0"/>
                </a:lnTo>
                <a:lnTo>
                  <a:pt x="2436772" y="2436772"/>
                </a:lnTo>
                <a:lnTo>
                  <a:pt x="0" y="24367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83B44"/>
        </a:solidFill>
      </p:bgPr>
    </p:bg>
    <p:spTree>
      <p:nvGrpSpPr>
        <p:cNvPr id="1" name=""/>
        <p:cNvGrpSpPr/>
        <p:nvPr/>
      </p:nvGrpSpPr>
      <p:grpSpPr>
        <a:xfrm>
          <a:off x="0" y="0"/>
          <a:ext cx="0" cy="0"/>
          <a:chOff x="0" y="0"/>
          <a:chExt cx="0" cy="0"/>
        </a:xfrm>
      </p:grpSpPr>
      <p:sp>
        <p:nvSpPr>
          <p:cNvPr name="Freeform 2" id="2"/>
          <p:cNvSpPr/>
          <p:nvPr/>
        </p:nvSpPr>
        <p:spPr>
          <a:xfrm flipH="false" flipV="false" rot="0">
            <a:off x="-2258054" y="7988869"/>
            <a:ext cx="7660380" cy="2005627"/>
          </a:xfrm>
          <a:custGeom>
            <a:avLst/>
            <a:gdLst/>
            <a:ahLst/>
            <a:cxnLst/>
            <a:rect r="r" b="b" t="t" l="l"/>
            <a:pathLst>
              <a:path h="2005627" w="7660380">
                <a:moveTo>
                  <a:pt x="0" y="0"/>
                </a:moveTo>
                <a:lnTo>
                  <a:pt x="7660380" y="0"/>
                </a:lnTo>
                <a:lnTo>
                  <a:pt x="7660380" y="2005627"/>
                </a:lnTo>
                <a:lnTo>
                  <a:pt x="0" y="2005627"/>
                </a:lnTo>
                <a:lnTo>
                  <a:pt x="0" y="0"/>
                </a:lnTo>
                <a:close/>
              </a:path>
            </a:pathLst>
          </a:custGeom>
          <a:blipFill>
            <a:blip r:embed="rId2"/>
            <a:stretch>
              <a:fillRect l="0" t="0" r="0" b="0"/>
            </a:stretch>
          </a:blipFill>
        </p:spPr>
      </p:sp>
      <p:grpSp>
        <p:nvGrpSpPr>
          <p:cNvPr name="Group 3" id="3"/>
          <p:cNvGrpSpPr/>
          <p:nvPr/>
        </p:nvGrpSpPr>
        <p:grpSpPr>
          <a:xfrm rot="0">
            <a:off x="1033839" y="1028700"/>
            <a:ext cx="4063546" cy="8229600"/>
            <a:chOff x="0" y="0"/>
            <a:chExt cx="629550" cy="1274980"/>
          </a:xfrm>
        </p:grpSpPr>
        <p:sp>
          <p:nvSpPr>
            <p:cNvPr name="Freeform 4" id="4"/>
            <p:cNvSpPr/>
            <p:nvPr/>
          </p:nvSpPr>
          <p:spPr>
            <a:xfrm flipH="false" flipV="false" rot="0">
              <a:off x="0" y="0"/>
              <a:ext cx="629550" cy="1274980"/>
            </a:xfrm>
            <a:custGeom>
              <a:avLst/>
              <a:gdLst/>
              <a:ahLst/>
              <a:cxnLst/>
              <a:rect r="r" b="b" t="t" l="l"/>
              <a:pathLst>
                <a:path h="1274980" w="629550">
                  <a:moveTo>
                    <a:pt x="81924" y="0"/>
                  </a:moveTo>
                  <a:lnTo>
                    <a:pt x="547625" y="0"/>
                  </a:lnTo>
                  <a:cubicBezTo>
                    <a:pt x="592871" y="0"/>
                    <a:pt x="629550" y="36679"/>
                    <a:pt x="629550" y="81924"/>
                  </a:cubicBezTo>
                  <a:lnTo>
                    <a:pt x="629550" y="1193056"/>
                  </a:lnTo>
                  <a:cubicBezTo>
                    <a:pt x="629550" y="1238302"/>
                    <a:pt x="592871" y="1274980"/>
                    <a:pt x="547625" y="1274980"/>
                  </a:cubicBezTo>
                  <a:lnTo>
                    <a:pt x="81924" y="1274980"/>
                  </a:lnTo>
                  <a:cubicBezTo>
                    <a:pt x="36679" y="1274980"/>
                    <a:pt x="0" y="1238302"/>
                    <a:pt x="0" y="1193056"/>
                  </a:cubicBezTo>
                  <a:lnTo>
                    <a:pt x="0" y="81924"/>
                  </a:lnTo>
                  <a:cubicBezTo>
                    <a:pt x="0" y="36679"/>
                    <a:pt x="36679" y="0"/>
                    <a:pt x="81924" y="0"/>
                  </a:cubicBezTo>
                  <a:close/>
                </a:path>
              </a:pathLst>
            </a:custGeom>
            <a:blipFill>
              <a:blip r:embed="rId3"/>
              <a:stretch>
                <a:fillRect l="0" t="-513" r="0" b="-513"/>
              </a:stretch>
            </a:blipFill>
            <a:ln w="114300" cap="rnd">
              <a:solidFill>
                <a:srgbClr val="000000"/>
              </a:solidFill>
              <a:prstDash val="solid"/>
              <a:round/>
            </a:ln>
          </p:spPr>
        </p:sp>
      </p:grpSp>
      <p:grpSp>
        <p:nvGrpSpPr>
          <p:cNvPr name="Group 5" id="5"/>
          <p:cNvGrpSpPr/>
          <p:nvPr/>
        </p:nvGrpSpPr>
        <p:grpSpPr>
          <a:xfrm rot="0">
            <a:off x="2549984" y="4976142"/>
            <a:ext cx="16656367" cy="3742115"/>
            <a:chOff x="0" y="0"/>
            <a:chExt cx="4386862" cy="985578"/>
          </a:xfrm>
        </p:grpSpPr>
        <p:sp>
          <p:nvSpPr>
            <p:cNvPr name="Freeform 6" id="6"/>
            <p:cNvSpPr/>
            <p:nvPr/>
          </p:nvSpPr>
          <p:spPr>
            <a:xfrm flipH="false" flipV="false" rot="0">
              <a:off x="0" y="0"/>
              <a:ext cx="4386862" cy="985578"/>
            </a:xfrm>
            <a:custGeom>
              <a:avLst/>
              <a:gdLst/>
              <a:ahLst/>
              <a:cxnLst/>
              <a:rect r="r" b="b" t="t" l="l"/>
              <a:pathLst>
                <a:path h="985578" w="4386862">
                  <a:moveTo>
                    <a:pt x="10226" y="0"/>
                  </a:moveTo>
                  <a:lnTo>
                    <a:pt x="4376636" y="0"/>
                  </a:lnTo>
                  <a:cubicBezTo>
                    <a:pt x="4382284" y="0"/>
                    <a:pt x="4386862" y="4578"/>
                    <a:pt x="4386862" y="10226"/>
                  </a:cubicBezTo>
                  <a:lnTo>
                    <a:pt x="4386862" y="975352"/>
                  </a:lnTo>
                  <a:cubicBezTo>
                    <a:pt x="4386862" y="978064"/>
                    <a:pt x="4385785" y="980665"/>
                    <a:pt x="4383867" y="982582"/>
                  </a:cubicBezTo>
                  <a:cubicBezTo>
                    <a:pt x="4381949" y="984500"/>
                    <a:pt x="4379349" y="985578"/>
                    <a:pt x="4376636" y="985578"/>
                  </a:cubicBezTo>
                  <a:lnTo>
                    <a:pt x="10226" y="985578"/>
                  </a:lnTo>
                  <a:cubicBezTo>
                    <a:pt x="7514" y="985578"/>
                    <a:pt x="4913" y="984500"/>
                    <a:pt x="2995" y="982582"/>
                  </a:cubicBezTo>
                  <a:cubicBezTo>
                    <a:pt x="1077" y="980665"/>
                    <a:pt x="0" y="978064"/>
                    <a:pt x="0" y="975352"/>
                  </a:cubicBezTo>
                  <a:lnTo>
                    <a:pt x="0" y="10226"/>
                  </a:lnTo>
                  <a:cubicBezTo>
                    <a:pt x="0" y="7514"/>
                    <a:pt x="1077" y="4913"/>
                    <a:pt x="2995" y="2995"/>
                  </a:cubicBezTo>
                  <a:cubicBezTo>
                    <a:pt x="4913" y="1077"/>
                    <a:pt x="7514" y="0"/>
                    <a:pt x="10226" y="0"/>
                  </a:cubicBezTo>
                  <a:close/>
                </a:path>
              </a:pathLst>
            </a:custGeom>
            <a:solidFill>
              <a:srgbClr val="FFFFFF">
                <a:alpha val="87843"/>
              </a:srgbClr>
            </a:solidFill>
          </p:spPr>
        </p:sp>
        <p:sp>
          <p:nvSpPr>
            <p:cNvPr name="TextBox 7" id="7"/>
            <p:cNvSpPr txBox="true"/>
            <p:nvPr/>
          </p:nvSpPr>
          <p:spPr>
            <a:xfrm>
              <a:off x="0" y="-38100"/>
              <a:ext cx="4386862" cy="1023678"/>
            </a:xfrm>
            <a:prstGeom prst="rect">
              <a:avLst/>
            </a:prstGeom>
          </p:spPr>
          <p:txBody>
            <a:bodyPr anchor="ctr" rtlCol="false" tIns="50800" lIns="50800" bIns="50800" rIns="50800"/>
            <a:lstStyle/>
            <a:p>
              <a:pPr algn="ctr" marL="0" indent="0" lvl="0">
                <a:lnSpc>
                  <a:spcPts val="3157"/>
                </a:lnSpc>
              </a:pPr>
            </a:p>
          </p:txBody>
        </p:sp>
      </p:grpSp>
      <p:sp>
        <p:nvSpPr>
          <p:cNvPr name="AutoShape 8" id="8"/>
          <p:cNvSpPr/>
          <p:nvPr/>
        </p:nvSpPr>
        <p:spPr>
          <a:xfrm flipV="true">
            <a:off x="7917568" y="5139427"/>
            <a:ext cx="0" cy="2963205"/>
          </a:xfrm>
          <a:prstGeom prst="line">
            <a:avLst/>
          </a:prstGeom>
          <a:ln cap="flat" w="19050">
            <a:solidFill>
              <a:srgbClr val="B8B8B8"/>
            </a:solidFill>
            <a:prstDash val="solid"/>
            <a:headEnd type="none" len="sm" w="sm"/>
            <a:tailEnd type="none" len="sm" w="sm"/>
          </a:ln>
        </p:spPr>
      </p:sp>
      <p:sp>
        <p:nvSpPr>
          <p:cNvPr name="AutoShape 9" id="9"/>
          <p:cNvSpPr/>
          <p:nvPr/>
        </p:nvSpPr>
        <p:spPr>
          <a:xfrm flipV="true">
            <a:off x="12608852" y="5139427"/>
            <a:ext cx="0" cy="2963205"/>
          </a:xfrm>
          <a:prstGeom prst="line">
            <a:avLst/>
          </a:prstGeom>
          <a:ln cap="flat" w="19050">
            <a:solidFill>
              <a:srgbClr val="B8B8B8"/>
            </a:solidFill>
            <a:prstDash val="solid"/>
            <a:headEnd type="none" len="sm" w="sm"/>
            <a:tailEnd type="none" len="sm" w="sm"/>
          </a:ln>
        </p:spPr>
      </p:sp>
      <p:sp>
        <p:nvSpPr>
          <p:cNvPr name="TextBox 10" id="10"/>
          <p:cNvSpPr txBox="true"/>
          <p:nvPr/>
        </p:nvSpPr>
        <p:spPr>
          <a:xfrm rot="0">
            <a:off x="5811760" y="3293692"/>
            <a:ext cx="9914273" cy="478147"/>
          </a:xfrm>
          <a:prstGeom prst="rect">
            <a:avLst/>
          </a:prstGeom>
        </p:spPr>
        <p:txBody>
          <a:bodyPr anchor="t" rtlCol="false" tIns="0" lIns="0" bIns="0" rIns="0">
            <a:spAutoFit/>
          </a:bodyPr>
          <a:lstStyle/>
          <a:p>
            <a:pPr algn="l" marL="0" indent="0" lvl="0">
              <a:lnSpc>
                <a:spcPts val="1995"/>
              </a:lnSpc>
            </a:pPr>
            <a:r>
              <a:rPr lang="en-US" sz="1425">
                <a:solidFill>
                  <a:srgbClr val="FFFFFF"/>
                </a:solidFill>
                <a:latin typeface="DM Sans"/>
                <a:ea typeface="DM Sans"/>
                <a:cs typeface="DM Sans"/>
                <a:sym typeface="DM Sans"/>
              </a:rPr>
              <a:t>An API-first, microservices-driven architecture powers the Crypto Lending Platform — integrating blockchain custody, real-time oracle feeds, and enterprise-grade security with full observability across every layer.</a:t>
            </a:r>
          </a:p>
        </p:txBody>
      </p:sp>
      <p:sp>
        <p:nvSpPr>
          <p:cNvPr name="TextBox 11" id="11"/>
          <p:cNvSpPr txBox="true"/>
          <p:nvPr/>
        </p:nvSpPr>
        <p:spPr>
          <a:xfrm rot="0">
            <a:off x="3413792" y="6325564"/>
            <a:ext cx="4152089" cy="981892"/>
          </a:xfrm>
          <a:prstGeom prst="rect">
            <a:avLst/>
          </a:prstGeom>
        </p:spPr>
        <p:txBody>
          <a:bodyPr anchor="t" rtlCol="false" tIns="0" lIns="0" bIns="0" rIns="0">
            <a:spAutoFit/>
          </a:bodyPr>
          <a:lstStyle/>
          <a:p>
            <a:pPr algn="l" marL="0" indent="0" lvl="0">
              <a:lnSpc>
                <a:spcPts val="1964"/>
              </a:lnSpc>
            </a:pPr>
            <a:r>
              <a:rPr lang="en-US" sz="1267">
                <a:solidFill>
                  <a:srgbClr val="283B44"/>
                </a:solidFill>
                <a:latin typeface="DM Sans"/>
                <a:ea typeface="DM Sans"/>
                <a:cs typeface="DM Sans"/>
                <a:sym typeface="DM Sans"/>
              </a:rPr>
              <a:t>RESTful &amp; GraphQL APIs expose all LOS/LMS services. An API gateway enforces auth, rate-limiting, and routing. Webhooks and event streams connect CRM, ERP, and third-party KYC/AML providers seamlessly.</a:t>
            </a:r>
          </a:p>
        </p:txBody>
      </p:sp>
      <p:sp>
        <p:nvSpPr>
          <p:cNvPr name="TextBox 12" id="12"/>
          <p:cNvSpPr txBox="true"/>
          <p:nvPr/>
        </p:nvSpPr>
        <p:spPr>
          <a:xfrm rot="0">
            <a:off x="8284602" y="6325564"/>
            <a:ext cx="4020728" cy="1229542"/>
          </a:xfrm>
          <a:prstGeom prst="rect">
            <a:avLst/>
          </a:prstGeom>
        </p:spPr>
        <p:txBody>
          <a:bodyPr anchor="t" rtlCol="false" tIns="0" lIns="0" bIns="0" rIns="0">
            <a:spAutoFit/>
          </a:bodyPr>
          <a:lstStyle/>
          <a:p>
            <a:pPr algn="l" marL="0" indent="0" lvl="0">
              <a:lnSpc>
                <a:spcPts val="1964"/>
              </a:lnSpc>
            </a:pPr>
            <a:r>
              <a:rPr lang="en-US" sz="1267">
                <a:solidFill>
                  <a:srgbClr val="283B44"/>
                </a:solidFill>
                <a:latin typeface="DM Sans"/>
                <a:ea typeface="DM Sans"/>
                <a:cs typeface="DM Sans"/>
                <a:sym typeface="DM Sans"/>
              </a:rPr>
              <a:t>Encrypted data-at-rest and in-transit with HSM-backed key management. Role-based access control enforces least privilege. Centralized logging, distributed tracing, and real-time alerting ensure full-stack observability.</a:t>
            </a:r>
          </a:p>
        </p:txBody>
      </p:sp>
      <p:sp>
        <p:nvSpPr>
          <p:cNvPr name="TextBox 13" id="13"/>
          <p:cNvSpPr txBox="true"/>
          <p:nvPr/>
        </p:nvSpPr>
        <p:spPr>
          <a:xfrm rot="0">
            <a:off x="13022088" y="6325564"/>
            <a:ext cx="4294368" cy="1229542"/>
          </a:xfrm>
          <a:prstGeom prst="rect">
            <a:avLst/>
          </a:prstGeom>
        </p:spPr>
        <p:txBody>
          <a:bodyPr anchor="t" rtlCol="false" tIns="0" lIns="0" bIns="0" rIns="0">
            <a:spAutoFit/>
          </a:bodyPr>
          <a:lstStyle/>
          <a:p>
            <a:pPr algn="l" marL="0" indent="0" lvl="0">
              <a:lnSpc>
                <a:spcPts val="1964"/>
              </a:lnSpc>
            </a:pPr>
            <a:r>
              <a:rPr lang="en-US" sz="1267">
                <a:solidFill>
                  <a:srgbClr val="283B44"/>
                </a:solidFill>
                <a:latin typeface="DM Sans"/>
                <a:ea typeface="DM Sans"/>
                <a:cs typeface="DM Sans"/>
                <a:sym typeface="DM Sans"/>
              </a:rPr>
              <a:t>Smart contract integrations manage on-chain collateral locking and liquidation. Institutional custody APIs (Fireblocks/BitGo) secure digital assets. Chainlink oracles deliver tamper-proof price feeds for real-time LTV calculations.</a:t>
            </a:r>
          </a:p>
        </p:txBody>
      </p:sp>
      <p:sp>
        <p:nvSpPr>
          <p:cNvPr name="TextBox 14" id="14"/>
          <p:cNvSpPr txBox="true"/>
          <p:nvPr/>
        </p:nvSpPr>
        <p:spPr>
          <a:xfrm rot="0">
            <a:off x="3413792" y="5582754"/>
            <a:ext cx="3807561" cy="365449"/>
          </a:xfrm>
          <a:prstGeom prst="rect">
            <a:avLst/>
          </a:prstGeom>
        </p:spPr>
        <p:txBody>
          <a:bodyPr anchor="t" rtlCol="false" tIns="0" lIns="0" bIns="0" rIns="0">
            <a:spAutoFit/>
          </a:bodyPr>
          <a:lstStyle/>
          <a:p>
            <a:pPr algn="l" marL="0" indent="0" lvl="0">
              <a:lnSpc>
                <a:spcPts val="2957"/>
              </a:lnSpc>
            </a:pPr>
            <a:r>
              <a:rPr lang="en-US" b="true" sz="2112" spc="-23">
                <a:solidFill>
                  <a:srgbClr val="283B44"/>
                </a:solidFill>
                <a:latin typeface="DM Sans Bold"/>
                <a:ea typeface="DM Sans Bold"/>
                <a:cs typeface="DM Sans Bold"/>
                <a:sym typeface="DM Sans Bold"/>
              </a:rPr>
              <a:t>API &amp; Integration Layer</a:t>
            </a:r>
          </a:p>
        </p:txBody>
      </p:sp>
      <p:sp>
        <p:nvSpPr>
          <p:cNvPr name="TextBox 15" id="15"/>
          <p:cNvSpPr txBox="true"/>
          <p:nvPr/>
        </p:nvSpPr>
        <p:spPr>
          <a:xfrm rot="0">
            <a:off x="8284602" y="5582754"/>
            <a:ext cx="4020728" cy="365449"/>
          </a:xfrm>
          <a:prstGeom prst="rect">
            <a:avLst/>
          </a:prstGeom>
        </p:spPr>
        <p:txBody>
          <a:bodyPr anchor="t" rtlCol="false" tIns="0" lIns="0" bIns="0" rIns="0">
            <a:spAutoFit/>
          </a:bodyPr>
          <a:lstStyle/>
          <a:p>
            <a:pPr algn="l" marL="0" indent="0" lvl="0">
              <a:lnSpc>
                <a:spcPts val="2957"/>
              </a:lnSpc>
            </a:pPr>
            <a:r>
              <a:rPr lang="en-US" b="true" sz="2112" spc="-23">
                <a:solidFill>
                  <a:srgbClr val="283B44"/>
                </a:solidFill>
                <a:latin typeface="DM Sans Bold"/>
                <a:ea typeface="DM Sans Bold"/>
                <a:cs typeface="DM Sans Bold"/>
                <a:sym typeface="DM Sans Bold"/>
              </a:rPr>
              <a:t>Data, Security &amp; Observability</a:t>
            </a:r>
          </a:p>
        </p:txBody>
      </p:sp>
      <p:sp>
        <p:nvSpPr>
          <p:cNvPr name="TextBox 16" id="16"/>
          <p:cNvSpPr txBox="true"/>
          <p:nvPr/>
        </p:nvSpPr>
        <p:spPr>
          <a:xfrm rot="0">
            <a:off x="13022088" y="5582754"/>
            <a:ext cx="4482249" cy="365449"/>
          </a:xfrm>
          <a:prstGeom prst="rect">
            <a:avLst/>
          </a:prstGeom>
        </p:spPr>
        <p:txBody>
          <a:bodyPr anchor="t" rtlCol="false" tIns="0" lIns="0" bIns="0" rIns="0">
            <a:spAutoFit/>
          </a:bodyPr>
          <a:lstStyle/>
          <a:p>
            <a:pPr algn="l" marL="0" indent="0" lvl="0">
              <a:lnSpc>
                <a:spcPts val="2957"/>
              </a:lnSpc>
            </a:pPr>
            <a:r>
              <a:rPr lang="en-US" b="true" sz="2112" spc="-23">
                <a:solidFill>
                  <a:srgbClr val="283B44"/>
                </a:solidFill>
                <a:latin typeface="DM Sans Bold"/>
                <a:ea typeface="DM Sans Bold"/>
                <a:cs typeface="DM Sans Bold"/>
                <a:sym typeface="DM Sans Bold"/>
              </a:rPr>
              <a:t>Blockchain &amp; External Connectivity</a:t>
            </a:r>
          </a:p>
        </p:txBody>
      </p:sp>
      <p:sp>
        <p:nvSpPr>
          <p:cNvPr name="TextBox 17" id="17"/>
          <p:cNvSpPr txBox="true"/>
          <p:nvPr/>
        </p:nvSpPr>
        <p:spPr>
          <a:xfrm rot="0">
            <a:off x="5811760" y="1796441"/>
            <a:ext cx="10132815" cy="871328"/>
          </a:xfrm>
          <a:prstGeom prst="rect">
            <a:avLst/>
          </a:prstGeom>
        </p:spPr>
        <p:txBody>
          <a:bodyPr anchor="t" rtlCol="false" tIns="0" lIns="0" bIns="0" rIns="0">
            <a:spAutoFit/>
          </a:bodyPr>
          <a:lstStyle/>
          <a:p>
            <a:pPr algn="l" marL="0" indent="0" lvl="0">
              <a:lnSpc>
                <a:spcPts val="6381"/>
              </a:lnSpc>
            </a:pPr>
            <a:r>
              <a:rPr lang="en-US" sz="5597" spc="-240">
                <a:solidFill>
                  <a:srgbClr val="FFFFFF"/>
                </a:solidFill>
                <a:latin typeface="Poppins"/>
                <a:ea typeface="Poppins"/>
                <a:cs typeface="Poppins"/>
                <a:sym typeface="Poppins"/>
              </a:rPr>
              <a:t>Solution Architecture</a:t>
            </a:r>
          </a:p>
        </p:txBody>
      </p:sp>
      <p:sp>
        <p:nvSpPr>
          <p:cNvPr name="Freeform 18" id="18"/>
          <p:cNvSpPr/>
          <p:nvPr/>
        </p:nvSpPr>
        <p:spPr>
          <a:xfrm flipH="false" flipV="false" rot="5400000">
            <a:off x="15889328" y="-38100"/>
            <a:ext cx="2436772" cy="2436772"/>
          </a:xfrm>
          <a:custGeom>
            <a:avLst/>
            <a:gdLst/>
            <a:ahLst/>
            <a:cxnLst/>
            <a:rect r="r" b="b" t="t" l="l"/>
            <a:pathLst>
              <a:path h="2436772" w="2436772">
                <a:moveTo>
                  <a:pt x="0" y="0"/>
                </a:moveTo>
                <a:lnTo>
                  <a:pt x="2436772" y="0"/>
                </a:lnTo>
                <a:lnTo>
                  <a:pt x="2436772" y="2436772"/>
                </a:lnTo>
                <a:lnTo>
                  <a:pt x="0" y="24367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5400000">
            <a:off x="-19050" y="7878803"/>
            <a:ext cx="2436772" cy="2436772"/>
          </a:xfrm>
          <a:custGeom>
            <a:avLst/>
            <a:gdLst/>
            <a:ahLst/>
            <a:cxnLst/>
            <a:rect r="r" b="b" t="t" l="l"/>
            <a:pathLst>
              <a:path h="2436772" w="2436772">
                <a:moveTo>
                  <a:pt x="0" y="0"/>
                </a:moveTo>
                <a:lnTo>
                  <a:pt x="2436772" y="0"/>
                </a:lnTo>
                <a:lnTo>
                  <a:pt x="2436772" y="2436772"/>
                </a:lnTo>
                <a:lnTo>
                  <a:pt x="0" y="24367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83B44"/>
        </a:solidFill>
      </p:bgPr>
    </p:bg>
    <p:spTree>
      <p:nvGrpSpPr>
        <p:cNvPr id="1" name=""/>
        <p:cNvGrpSpPr/>
        <p:nvPr/>
      </p:nvGrpSpPr>
      <p:grpSpPr>
        <a:xfrm>
          <a:off x="0" y="0"/>
          <a:ext cx="0" cy="0"/>
          <a:chOff x="0" y="0"/>
          <a:chExt cx="0" cy="0"/>
        </a:xfrm>
      </p:grpSpPr>
      <p:grpSp>
        <p:nvGrpSpPr>
          <p:cNvPr name="Group 2" id="2"/>
          <p:cNvGrpSpPr/>
          <p:nvPr/>
        </p:nvGrpSpPr>
        <p:grpSpPr>
          <a:xfrm rot="0">
            <a:off x="1708881" y="4932680"/>
            <a:ext cx="788642" cy="759567"/>
            <a:chOff x="0" y="0"/>
            <a:chExt cx="207708" cy="200051"/>
          </a:xfrm>
        </p:grpSpPr>
        <p:sp>
          <p:nvSpPr>
            <p:cNvPr name="Freeform 3" id="3"/>
            <p:cNvSpPr/>
            <p:nvPr/>
          </p:nvSpPr>
          <p:spPr>
            <a:xfrm flipH="false" flipV="false" rot="0">
              <a:off x="0" y="0"/>
              <a:ext cx="207708" cy="200051"/>
            </a:xfrm>
            <a:custGeom>
              <a:avLst/>
              <a:gdLst/>
              <a:ahLst/>
              <a:cxnLst/>
              <a:rect r="r" b="b" t="t" l="l"/>
              <a:pathLst>
                <a:path h="200051" w="207708">
                  <a:moveTo>
                    <a:pt x="0" y="0"/>
                  </a:moveTo>
                  <a:lnTo>
                    <a:pt x="207708" y="0"/>
                  </a:lnTo>
                  <a:lnTo>
                    <a:pt x="207708" y="200051"/>
                  </a:lnTo>
                  <a:lnTo>
                    <a:pt x="0" y="200051"/>
                  </a:lnTo>
                  <a:close/>
                </a:path>
              </a:pathLst>
            </a:custGeom>
            <a:solidFill>
              <a:srgbClr val="FFFFFF"/>
            </a:solidFill>
          </p:spPr>
        </p:sp>
        <p:sp>
          <p:nvSpPr>
            <p:cNvPr name="TextBox 4" id="4"/>
            <p:cNvSpPr txBox="true"/>
            <p:nvPr/>
          </p:nvSpPr>
          <p:spPr>
            <a:xfrm>
              <a:off x="0" y="-238125"/>
              <a:ext cx="207708" cy="438176"/>
            </a:xfrm>
            <a:prstGeom prst="rect">
              <a:avLst/>
            </a:prstGeom>
          </p:spPr>
          <p:txBody>
            <a:bodyPr anchor="ctr" rtlCol="false" tIns="50800" lIns="50800" bIns="50800" rIns="50800"/>
            <a:lstStyle/>
            <a:p>
              <a:pPr algn="ctr" marL="0" indent="0" lvl="0">
                <a:lnSpc>
                  <a:spcPts val="4481"/>
                </a:lnSpc>
              </a:pPr>
            </a:p>
          </p:txBody>
        </p:sp>
      </p:grpSp>
      <p:grpSp>
        <p:nvGrpSpPr>
          <p:cNvPr name="Group 5" id="5"/>
          <p:cNvGrpSpPr/>
          <p:nvPr/>
        </p:nvGrpSpPr>
        <p:grpSpPr>
          <a:xfrm rot="0">
            <a:off x="13182082" y="8498733"/>
            <a:ext cx="3653643" cy="759567"/>
            <a:chOff x="0" y="0"/>
            <a:chExt cx="962276" cy="200051"/>
          </a:xfrm>
        </p:grpSpPr>
        <p:sp>
          <p:nvSpPr>
            <p:cNvPr name="Freeform 6" id="6"/>
            <p:cNvSpPr/>
            <p:nvPr/>
          </p:nvSpPr>
          <p:spPr>
            <a:xfrm flipH="false" flipV="false" rot="0">
              <a:off x="0" y="0"/>
              <a:ext cx="962276" cy="200051"/>
            </a:xfrm>
            <a:custGeom>
              <a:avLst/>
              <a:gdLst/>
              <a:ahLst/>
              <a:cxnLst/>
              <a:rect r="r" b="b" t="t" l="l"/>
              <a:pathLst>
                <a:path h="200051" w="962276">
                  <a:moveTo>
                    <a:pt x="0" y="0"/>
                  </a:moveTo>
                  <a:lnTo>
                    <a:pt x="962276" y="0"/>
                  </a:lnTo>
                  <a:lnTo>
                    <a:pt x="962276" y="200051"/>
                  </a:lnTo>
                  <a:lnTo>
                    <a:pt x="0" y="200051"/>
                  </a:lnTo>
                  <a:close/>
                </a:path>
              </a:pathLst>
            </a:custGeom>
            <a:ln w="38100" cap="sq">
              <a:solidFill>
                <a:srgbClr val="FFFFFF"/>
              </a:solidFill>
              <a:prstDash val="solid"/>
              <a:miter/>
            </a:ln>
          </p:spPr>
        </p:sp>
        <p:sp>
          <p:nvSpPr>
            <p:cNvPr name="TextBox 7" id="7"/>
            <p:cNvSpPr txBox="true"/>
            <p:nvPr/>
          </p:nvSpPr>
          <p:spPr>
            <a:xfrm>
              <a:off x="0" y="-238125"/>
              <a:ext cx="962276" cy="438176"/>
            </a:xfrm>
            <a:prstGeom prst="rect">
              <a:avLst/>
            </a:prstGeom>
          </p:spPr>
          <p:txBody>
            <a:bodyPr anchor="ctr" rtlCol="false" tIns="50800" lIns="50800" bIns="50800" rIns="50800"/>
            <a:lstStyle/>
            <a:p>
              <a:pPr algn="ctr" marL="0" indent="0" lvl="0">
                <a:lnSpc>
                  <a:spcPts val="4481"/>
                </a:lnSpc>
              </a:pPr>
            </a:p>
          </p:txBody>
        </p:sp>
      </p:grpSp>
      <p:grpSp>
        <p:nvGrpSpPr>
          <p:cNvPr name="Group 8" id="8"/>
          <p:cNvGrpSpPr/>
          <p:nvPr/>
        </p:nvGrpSpPr>
        <p:grpSpPr>
          <a:xfrm rot="0">
            <a:off x="6821065" y="4932680"/>
            <a:ext cx="788642" cy="759567"/>
            <a:chOff x="0" y="0"/>
            <a:chExt cx="207708" cy="200051"/>
          </a:xfrm>
        </p:grpSpPr>
        <p:sp>
          <p:nvSpPr>
            <p:cNvPr name="Freeform 9" id="9"/>
            <p:cNvSpPr/>
            <p:nvPr/>
          </p:nvSpPr>
          <p:spPr>
            <a:xfrm flipH="false" flipV="false" rot="0">
              <a:off x="0" y="0"/>
              <a:ext cx="207708" cy="200051"/>
            </a:xfrm>
            <a:custGeom>
              <a:avLst/>
              <a:gdLst/>
              <a:ahLst/>
              <a:cxnLst/>
              <a:rect r="r" b="b" t="t" l="l"/>
              <a:pathLst>
                <a:path h="200051" w="207708">
                  <a:moveTo>
                    <a:pt x="0" y="0"/>
                  </a:moveTo>
                  <a:lnTo>
                    <a:pt x="207708" y="0"/>
                  </a:lnTo>
                  <a:lnTo>
                    <a:pt x="207708" y="200051"/>
                  </a:lnTo>
                  <a:lnTo>
                    <a:pt x="0" y="200051"/>
                  </a:lnTo>
                  <a:close/>
                </a:path>
              </a:pathLst>
            </a:custGeom>
            <a:solidFill>
              <a:srgbClr val="FFFFFF"/>
            </a:solidFill>
          </p:spPr>
        </p:sp>
        <p:sp>
          <p:nvSpPr>
            <p:cNvPr name="TextBox 10" id="10"/>
            <p:cNvSpPr txBox="true"/>
            <p:nvPr/>
          </p:nvSpPr>
          <p:spPr>
            <a:xfrm>
              <a:off x="0" y="-238125"/>
              <a:ext cx="207708" cy="438176"/>
            </a:xfrm>
            <a:prstGeom prst="rect">
              <a:avLst/>
            </a:prstGeom>
          </p:spPr>
          <p:txBody>
            <a:bodyPr anchor="ctr" rtlCol="false" tIns="50800" lIns="50800" bIns="50800" rIns="50800"/>
            <a:lstStyle/>
            <a:p>
              <a:pPr algn="ctr" marL="0" indent="0" lvl="0">
                <a:lnSpc>
                  <a:spcPts val="4481"/>
                </a:lnSpc>
              </a:pPr>
            </a:p>
          </p:txBody>
        </p:sp>
      </p:grpSp>
      <p:grpSp>
        <p:nvGrpSpPr>
          <p:cNvPr name="Group 11" id="11"/>
          <p:cNvGrpSpPr/>
          <p:nvPr/>
        </p:nvGrpSpPr>
        <p:grpSpPr>
          <a:xfrm rot="0">
            <a:off x="11933249" y="4932680"/>
            <a:ext cx="788642" cy="759567"/>
            <a:chOff x="0" y="0"/>
            <a:chExt cx="207708" cy="200051"/>
          </a:xfrm>
        </p:grpSpPr>
        <p:sp>
          <p:nvSpPr>
            <p:cNvPr name="Freeform 12" id="12"/>
            <p:cNvSpPr/>
            <p:nvPr/>
          </p:nvSpPr>
          <p:spPr>
            <a:xfrm flipH="false" flipV="false" rot="0">
              <a:off x="0" y="0"/>
              <a:ext cx="207708" cy="200051"/>
            </a:xfrm>
            <a:custGeom>
              <a:avLst/>
              <a:gdLst/>
              <a:ahLst/>
              <a:cxnLst/>
              <a:rect r="r" b="b" t="t" l="l"/>
              <a:pathLst>
                <a:path h="200051" w="207708">
                  <a:moveTo>
                    <a:pt x="0" y="0"/>
                  </a:moveTo>
                  <a:lnTo>
                    <a:pt x="207708" y="0"/>
                  </a:lnTo>
                  <a:lnTo>
                    <a:pt x="207708" y="200051"/>
                  </a:lnTo>
                  <a:lnTo>
                    <a:pt x="0" y="200051"/>
                  </a:lnTo>
                  <a:close/>
                </a:path>
              </a:pathLst>
            </a:custGeom>
            <a:solidFill>
              <a:srgbClr val="FFFFFF"/>
            </a:solidFill>
          </p:spPr>
        </p:sp>
        <p:sp>
          <p:nvSpPr>
            <p:cNvPr name="TextBox 13" id="13"/>
            <p:cNvSpPr txBox="true"/>
            <p:nvPr/>
          </p:nvSpPr>
          <p:spPr>
            <a:xfrm>
              <a:off x="0" y="-238125"/>
              <a:ext cx="207708" cy="438176"/>
            </a:xfrm>
            <a:prstGeom prst="rect">
              <a:avLst/>
            </a:prstGeom>
          </p:spPr>
          <p:txBody>
            <a:bodyPr anchor="ctr" rtlCol="false" tIns="50800" lIns="50800" bIns="50800" rIns="50800"/>
            <a:lstStyle/>
            <a:p>
              <a:pPr algn="ctr" marL="0" indent="0" lvl="0">
                <a:lnSpc>
                  <a:spcPts val="4481"/>
                </a:lnSpc>
              </a:pPr>
            </a:p>
          </p:txBody>
        </p:sp>
      </p:grpSp>
      <p:sp>
        <p:nvSpPr>
          <p:cNvPr name="TextBox 14" id="14"/>
          <p:cNvSpPr txBox="true"/>
          <p:nvPr/>
        </p:nvSpPr>
        <p:spPr>
          <a:xfrm rot="0">
            <a:off x="13473109" y="8641072"/>
            <a:ext cx="4468960" cy="360620"/>
          </a:xfrm>
          <a:prstGeom prst="rect">
            <a:avLst/>
          </a:prstGeom>
        </p:spPr>
        <p:txBody>
          <a:bodyPr anchor="t" rtlCol="false" tIns="0" lIns="0" bIns="0" rIns="0">
            <a:spAutoFit/>
          </a:bodyPr>
          <a:lstStyle/>
          <a:p>
            <a:pPr algn="l" marL="0" indent="0" lvl="0">
              <a:lnSpc>
                <a:spcPts val="2739"/>
              </a:lnSpc>
            </a:pPr>
            <a:r>
              <a:rPr lang="en-US" sz="1999">
                <a:solidFill>
                  <a:srgbClr val="FFFFFF"/>
                </a:solidFill>
                <a:latin typeface="Poppins"/>
                <a:ea typeface="Poppins"/>
                <a:cs typeface="Poppins"/>
                <a:sym typeface="Poppins"/>
              </a:rPr>
              <a:t>www.reallygreatsite.com</a:t>
            </a:r>
          </a:p>
        </p:txBody>
      </p:sp>
      <p:sp>
        <p:nvSpPr>
          <p:cNvPr name="AutoShape 15" id="15"/>
          <p:cNvSpPr/>
          <p:nvPr/>
        </p:nvSpPr>
        <p:spPr>
          <a:xfrm>
            <a:off x="2716026" y="8878516"/>
            <a:ext cx="10466055" cy="0"/>
          </a:xfrm>
          <a:prstGeom prst="line">
            <a:avLst/>
          </a:prstGeom>
          <a:ln cap="flat" w="38100">
            <a:solidFill>
              <a:srgbClr val="FFFFFF"/>
            </a:solidFill>
            <a:prstDash val="solid"/>
            <a:headEnd type="none" len="sm" w="sm"/>
            <a:tailEnd type="none" len="sm" w="sm"/>
          </a:ln>
        </p:spPr>
      </p:sp>
      <p:grpSp>
        <p:nvGrpSpPr>
          <p:cNvPr name="Group 16" id="16"/>
          <p:cNvGrpSpPr/>
          <p:nvPr/>
        </p:nvGrpSpPr>
        <p:grpSpPr>
          <a:xfrm rot="0">
            <a:off x="15099061" y="1530480"/>
            <a:ext cx="1418576" cy="1801546"/>
            <a:chOff x="0" y="0"/>
            <a:chExt cx="331143" cy="420542"/>
          </a:xfrm>
        </p:grpSpPr>
        <p:sp>
          <p:nvSpPr>
            <p:cNvPr name="Freeform 17" id="17"/>
            <p:cNvSpPr/>
            <p:nvPr/>
          </p:nvSpPr>
          <p:spPr>
            <a:xfrm flipH="false" flipV="false" rot="0">
              <a:off x="0" y="0"/>
              <a:ext cx="331143" cy="420542"/>
            </a:xfrm>
            <a:custGeom>
              <a:avLst/>
              <a:gdLst/>
              <a:ahLst/>
              <a:cxnLst/>
              <a:rect r="r" b="b" t="t" l="l"/>
              <a:pathLst>
                <a:path h="420542" w="331143">
                  <a:moveTo>
                    <a:pt x="0" y="0"/>
                  </a:moveTo>
                  <a:lnTo>
                    <a:pt x="331143" y="0"/>
                  </a:lnTo>
                  <a:lnTo>
                    <a:pt x="331143" y="420542"/>
                  </a:lnTo>
                  <a:lnTo>
                    <a:pt x="0" y="420542"/>
                  </a:lnTo>
                  <a:close/>
                </a:path>
              </a:pathLst>
            </a:custGeom>
            <a:solidFill>
              <a:srgbClr val="FFFFFF"/>
            </a:solidFill>
          </p:spPr>
        </p:sp>
        <p:sp>
          <p:nvSpPr>
            <p:cNvPr name="TextBox 18" id="18"/>
            <p:cNvSpPr txBox="true"/>
            <p:nvPr/>
          </p:nvSpPr>
          <p:spPr>
            <a:xfrm>
              <a:off x="0" y="-238125"/>
              <a:ext cx="331143" cy="658667"/>
            </a:xfrm>
            <a:prstGeom prst="rect">
              <a:avLst/>
            </a:prstGeom>
          </p:spPr>
          <p:txBody>
            <a:bodyPr anchor="ctr" rtlCol="false" tIns="50800" lIns="50800" bIns="50800" rIns="50800"/>
            <a:lstStyle/>
            <a:p>
              <a:pPr algn="ctr" marL="0" indent="0" lvl="0">
                <a:lnSpc>
                  <a:spcPts val="4481"/>
                </a:lnSpc>
              </a:pPr>
            </a:p>
          </p:txBody>
        </p:sp>
      </p:grpSp>
      <p:sp>
        <p:nvSpPr>
          <p:cNvPr name="Freeform 19" id="19"/>
          <p:cNvSpPr/>
          <p:nvPr/>
        </p:nvSpPr>
        <p:spPr>
          <a:xfrm flipH="false" flipV="false" rot="0">
            <a:off x="15562076" y="2025580"/>
            <a:ext cx="492547" cy="811348"/>
          </a:xfrm>
          <a:custGeom>
            <a:avLst/>
            <a:gdLst/>
            <a:ahLst/>
            <a:cxnLst/>
            <a:rect r="r" b="b" t="t" l="l"/>
            <a:pathLst>
              <a:path h="811348" w="492547">
                <a:moveTo>
                  <a:pt x="0" y="0"/>
                </a:moveTo>
                <a:lnTo>
                  <a:pt x="492547" y="0"/>
                </a:lnTo>
                <a:lnTo>
                  <a:pt x="492547" y="811348"/>
                </a:lnTo>
                <a:lnTo>
                  <a:pt x="0" y="811348"/>
                </a:lnTo>
                <a:lnTo>
                  <a:pt x="0" y="0"/>
                </a:lnTo>
                <a:close/>
              </a:path>
            </a:pathLst>
          </a:custGeom>
          <a:blipFill>
            <a:blip r:embed="rId2">
              <a:extLst>
                <a:ext uri="{96DAC541-7B7A-43D3-8B79-37D633B846F1}">
                  <asvg:svgBlip xmlns:asvg="http://schemas.microsoft.com/office/drawing/2016/SVG/main" r:embed="rId3"/>
                </a:ext>
              </a:extLst>
            </a:blip>
            <a:stretch>
              <a:fillRect l="0" t="0" r="-432933" b="0"/>
            </a:stretch>
          </a:blipFill>
        </p:spPr>
      </p:sp>
      <p:grpSp>
        <p:nvGrpSpPr>
          <p:cNvPr name="Group 20" id="20"/>
          <p:cNvGrpSpPr/>
          <p:nvPr/>
        </p:nvGrpSpPr>
        <p:grpSpPr>
          <a:xfrm rot="0">
            <a:off x="10197941" y="1530480"/>
            <a:ext cx="4570767" cy="1801546"/>
            <a:chOff x="0" y="0"/>
            <a:chExt cx="627630" cy="247377"/>
          </a:xfrm>
        </p:grpSpPr>
        <p:sp>
          <p:nvSpPr>
            <p:cNvPr name="Freeform 21" id="21"/>
            <p:cNvSpPr/>
            <p:nvPr/>
          </p:nvSpPr>
          <p:spPr>
            <a:xfrm flipH="false" flipV="false" rot="0">
              <a:off x="0" y="0"/>
              <a:ext cx="627630" cy="247377"/>
            </a:xfrm>
            <a:custGeom>
              <a:avLst/>
              <a:gdLst/>
              <a:ahLst/>
              <a:cxnLst/>
              <a:rect r="r" b="b" t="t" l="l"/>
              <a:pathLst>
                <a:path h="247377" w="627630">
                  <a:moveTo>
                    <a:pt x="0" y="0"/>
                  </a:moveTo>
                  <a:lnTo>
                    <a:pt x="627630" y="0"/>
                  </a:lnTo>
                  <a:lnTo>
                    <a:pt x="627630" y="247377"/>
                  </a:lnTo>
                  <a:lnTo>
                    <a:pt x="0" y="247377"/>
                  </a:lnTo>
                  <a:close/>
                </a:path>
              </a:pathLst>
            </a:custGeom>
            <a:blipFill>
              <a:blip r:embed="rId4"/>
              <a:stretch>
                <a:fillRect l="0" t="-901" r="0" b="-901"/>
              </a:stretch>
            </a:blipFill>
          </p:spPr>
        </p:sp>
      </p:grpSp>
      <p:sp>
        <p:nvSpPr>
          <p:cNvPr name="TextBox 22" id="22"/>
          <p:cNvSpPr txBox="true"/>
          <p:nvPr/>
        </p:nvSpPr>
        <p:spPr>
          <a:xfrm rot="0">
            <a:off x="1708881" y="1240169"/>
            <a:ext cx="7726527" cy="2286932"/>
          </a:xfrm>
          <a:prstGeom prst="rect">
            <a:avLst/>
          </a:prstGeom>
        </p:spPr>
        <p:txBody>
          <a:bodyPr anchor="t" rtlCol="false" tIns="0" lIns="0" bIns="0" rIns="0">
            <a:spAutoFit/>
          </a:bodyPr>
          <a:lstStyle/>
          <a:p>
            <a:pPr algn="l" marL="0" indent="0" lvl="0">
              <a:lnSpc>
                <a:spcPts val="8702"/>
              </a:lnSpc>
            </a:pPr>
            <a:r>
              <a:rPr lang="en-US" sz="7133" spc="-14">
                <a:solidFill>
                  <a:srgbClr val="FFFFFF"/>
                </a:solidFill>
                <a:latin typeface="Poppins"/>
                <a:ea typeface="Poppins"/>
                <a:cs typeface="Poppins"/>
                <a:sym typeface="Poppins"/>
              </a:rPr>
              <a:t>Risk &amp; Controls Framework</a:t>
            </a:r>
          </a:p>
        </p:txBody>
      </p:sp>
      <p:sp>
        <p:nvSpPr>
          <p:cNvPr name="TextBox 23" id="23"/>
          <p:cNvSpPr txBox="true"/>
          <p:nvPr/>
        </p:nvSpPr>
        <p:spPr>
          <a:xfrm rot="0">
            <a:off x="2785614" y="5625572"/>
            <a:ext cx="3507656" cy="2109764"/>
          </a:xfrm>
          <a:prstGeom prst="rect">
            <a:avLst/>
          </a:prstGeom>
        </p:spPr>
        <p:txBody>
          <a:bodyPr anchor="t" rtlCol="false" tIns="0" lIns="0" bIns="0" rIns="0">
            <a:spAutoFit/>
          </a:bodyPr>
          <a:lstStyle/>
          <a:p>
            <a:pPr algn="l" marL="0" indent="0" lvl="0">
              <a:lnSpc>
                <a:spcPts val="2455"/>
              </a:lnSpc>
            </a:pPr>
            <a:r>
              <a:rPr lang="en-US" sz="1514" spc="-3">
                <a:solidFill>
                  <a:srgbClr val="FFFFFF"/>
                </a:solidFill>
                <a:latin typeface="DM Sans"/>
                <a:ea typeface="DM Sans"/>
                <a:cs typeface="DM Sans"/>
                <a:sym typeface="DM Sans"/>
              </a:rPr>
              <a:t>End-to-end KYC/AML workflows with automated identity verification, sanctions screening (OFAC, UN, EU lists), and PEP checks. Continuous transaction monitoring flags suspicious activity in real time, ensuring full regulatory compliance.</a:t>
            </a:r>
          </a:p>
        </p:txBody>
      </p:sp>
      <p:sp>
        <p:nvSpPr>
          <p:cNvPr name="TextBox 24" id="24"/>
          <p:cNvSpPr txBox="true"/>
          <p:nvPr/>
        </p:nvSpPr>
        <p:spPr>
          <a:xfrm rot="0">
            <a:off x="7897798" y="5625572"/>
            <a:ext cx="3507656" cy="1804964"/>
          </a:xfrm>
          <a:prstGeom prst="rect">
            <a:avLst/>
          </a:prstGeom>
        </p:spPr>
        <p:txBody>
          <a:bodyPr anchor="t" rtlCol="false" tIns="0" lIns="0" bIns="0" rIns="0">
            <a:spAutoFit/>
          </a:bodyPr>
          <a:lstStyle/>
          <a:p>
            <a:pPr algn="l" marL="0" indent="0" lvl="0">
              <a:lnSpc>
                <a:spcPts val="2455"/>
              </a:lnSpc>
            </a:pPr>
            <a:r>
              <a:rPr lang="en-US" sz="1514" spc="-3">
                <a:solidFill>
                  <a:srgbClr val="FFFFFF"/>
                </a:solidFill>
                <a:latin typeface="DM Sans"/>
                <a:ea typeface="DM Sans"/>
                <a:cs typeface="DM Sans"/>
                <a:sym typeface="DM Sans"/>
              </a:rPr>
              <a:t>Real-time crypto collateral valuation with configurable LTV thresholds (e.g., 50–70%). Automated margin calls and liquidation triggers protect platform solvency. Multi-oracle price feeds mitigate market-risk exposure.</a:t>
            </a:r>
          </a:p>
        </p:txBody>
      </p:sp>
      <p:sp>
        <p:nvSpPr>
          <p:cNvPr name="TextBox 25" id="25"/>
          <p:cNvSpPr txBox="true"/>
          <p:nvPr/>
        </p:nvSpPr>
        <p:spPr>
          <a:xfrm rot="0">
            <a:off x="13009982" y="5625572"/>
            <a:ext cx="3507656" cy="2109764"/>
          </a:xfrm>
          <a:prstGeom prst="rect">
            <a:avLst/>
          </a:prstGeom>
        </p:spPr>
        <p:txBody>
          <a:bodyPr anchor="t" rtlCol="false" tIns="0" lIns="0" bIns="0" rIns="0">
            <a:spAutoFit/>
          </a:bodyPr>
          <a:lstStyle/>
          <a:p>
            <a:pPr algn="l" marL="0" indent="0" lvl="0">
              <a:lnSpc>
                <a:spcPts val="2455"/>
              </a:lnSpc>
            </a:pPr>
            <a:r>
              <a:rPr lang="en-US" sz="1514" spc="-3">
                <a:solidFill>
                  <a:srgbClr val="FFFFFF"/>
                </a:solidFill>
                <a:latin typeface="DM Sans"/>
                <a:ea typeface="DM Sans"/>
                <a:cs typeface="DM Sans"/>
                <a:sym typeface="DM Sans"/>
              </a:rPr>
              <a:t>Role-based access controls (RBAC) enforce least-privilege across all modules. Immutable audit trails log every action for regulatory review. Automated reporting supports SAR filings, FinCEN, and jurisdictional disclosure mandates.</a:t>
            </a:r>
          </a:p>
        </p:txBody>
      </p:sp>
      <p:sp>
        <p:nvSpPr>
          <p:cNvPr name="TextBox 26" id="26"/>
          <p:cNvSpPr txBox="true"/>
          <p:nvPr/>
        </p:nvSpPr>
        <p:spPr>
          <a:xfrm rot="0">
            <a:off x="2785614" y="5011156"/>
            <a:ext cx="3507656" cy="392719"/>
          </a:xfrm>
          <a:prstGeom prst="rect">
            <a:avLst/>
          </a:prstGeom>
        </p:spPr>
        <p:txBody>
          <a:bodyPr anchor="t" rtlCol="false" tIns="0" lIns="0" bIns="0" rIns="0">
            <a:spAutoFit/>
          </a:bodyPr>
          <a:lstStyle/>
          <a:p>
            <a:pPr algn="l" marL="0" indent="0" lvl="0">
              <a:lnSpc>
                <a:spcPts val="3029"/>
              </a:lnSpc>
            </a:pPr>
            <a:r>
              <a:rPr lang="en-US" b="true" sz="2163" spc="-4">
                <a:solidFill>
                  <a:srgbClr val="FFFFFF"/>
                </a:solidFill>
                <a:latin typeface="Poppins Ultra-Bold"/>
                <a:ea typeface="Poppins Ultra-Bold"/>
                <a:cs typeface="Poppins Ultra-Bold"/>
                <a:sym typeface="Poppins Ultra-Bold"/>
              </a:rPr>
              <a:t>Compliance &amp; Screening</a:t>
            </a:r>
          </a:p>
        </p:txBody>
      </p:sp>
      <p:sp>
        <p:nvSpPr>
          <p:cNvPr name="TextBox 27" id="27"/>
          <p:cNvSpPr txBox="true"/>
          <p:nvPr/>
        </p:nvSpPr>
        <p:spPr>
          <a:xfrm rot="0">
            <a:off x="7897798" y="5011156"/>
            <a:ext cx="3507656" cy="392719"/>
          </a:xfrm>
          <a:prstGeom prst="rect">
            <a:avLst/>
          </a:prstGeom>
        </p:spPr>
        <p:txBody>
          <a:bodyPr anchor="t" rtlCol="false" tIns="0" lIns="0" bIns="0" rIns="0">
            <a:spAutoFit/>
          </a:bodyPr>
          <a:lstStyle/>
          <a:p>
            <a:pPr algn="l" marL="0" indent="0" lvl="0">
              <a:lnSpc>
                <a:spcPts val="3029"/>
              </a:lnSpc>
            </a:pPr>
            <a:r>
              <a:rPr lang="en-US" b="true" sz="2163" spc="-4">
                <a:solidFill>
                  <a:srgbClr val="FFFFFF"/>
                </a:solidFill>
                <a:latin typeface="Poppins Ultra-Bold"/>
                <a:ea typeface="Poppins Ultra-Bold"/>
                <a:cs typeface="Poppins Ultra-Bold"/>
                <a:sym typeface="Poppins Ultra-Bold"/>
              </a:rPr>
              <a:t>Collateral &amp; Market Risk</a:t>
            </a:r>
          </a:p>
        </p:txBody>
      </p:sp>
      <p:sp>
        <p:nvSpPr>
          <p:cNvPr name="TextBox 28" id="28"/>
          <p:cNvSpPr txBox="true"/>
          <p:nvPr/>
        </p:nvSpPr>
        <p:spPr>
          <a:xfrm rot="0">
            <a:off x="13009982" y="5011156"/>
            <a:ext cx="3507656" cy="392719"/>
          </a:xfrm>
          <a:prstGeom prst="rect">
            <a:avLst/>
          </a:prstGeom>
        </p:spPr>
        <p:txBody>
          <a:bodyPr anchor="t" rtlCol="false" tIns="0" lIns="0" bIns="0" rIns="0">
            <a:spAutoFit/>
          </a:bodyPr>
          <a:lstStyle/>
          <a:p>
            <a:pPr algn="l" marL="0" indent="0" lvl="0">
              <a:lnSpc>
                <a:spcPts val="3029"/>
              </a:lnSpc>
            </a:pPr>
            <a:r>
              <a:rPr lang="en-US" b="true" sz="2163" spc="-4">
                <a:solidFill>
                  <a:srgbClr val="FFFFFF"/>
                </a:solidFill>
                <a:latin typeface="Poppins Ultra-Bold"/>
                <a:ea typeface="Poppins Ultra-Bold"/>
                <a:cs typeface="Poppins Ultra-Bold"/>
                <a:sym typeface="Poppins Ultra-Bold"/>
              </a:rPr>
              <a:t>Governance &amp; Audit</a:t>
            </a:r>
          </a:p>
        </p:txBody>
      </p:sp>
      <p:sp>
        <p:nvSpPr>
          <p:cNvPr name="TextBox 29" id="29"/>
          <p:cNvSpPr txBox="true"/>
          <p:nvPr/>
        </p:nvSpPr>
        <p:spPr>
          <a:xfrm rot="0">
            <a:off x="1817806" y="4980504"/>
            <a:ext cx="570793" cy="551330"/>
          </a:xfrm>
          <a:prstGeom prst="rect">
            <a:avLst/>
          </a:prstGeom>
        </p:spPr>
        <p:txBody>
          <a:bodyPr anchor="t" rtlCol="false" tIns="0" lIns="0" bIns="0" rIns="0">
            <a:spAutoFit/>
          </a:bodyPr>
          <a:lstStyle/>
          <a:p>
            <a:pPr algn="ctr" marL="0" indent="0" lvl="0">
              <a:lnSpc>
                <a:spcPts val="4261"/>
              </a:lnSpc>
            </a:pPr>
            <a:r>
              <a:rPr lang="en-US" b="true" sz="3044" spc="-6">
                <a:solidFill>
                  <a:srgbClr val="283B44"/>
                </a:solidFill>
                <a:latin typeface="Poppins Ultra-Bold"/>
                <a:ea typeface="Poppins Ultra-Bold"/>
                <a:cs typeface="Poppins Ultra-Bold"/>
                <a:sym typeface="Poppins Ultra-Bold"/>
              </a:rPr>
              <a:t>01</a:t>
            </a:r>
          </a:p>
        </p:txBody>
      </p:sp>
      <p:sp>
        <p:nvSpPr>
          <p:cNvPr name="TextBox 30" id="30"/>
          <p:cNvSpPr txBox="true"/>
          <p:nvPr/>
        </p:nvSpPr>
        <p:spPr>
          <a:xfrm rot="0">
            <a:off x="6929990" y="4980504"/>
            <a:ext cx="570793" cy="551330"/>
          </a:xfrm>
          <a:prstGeom prst="rect">
            <a:avLst/>
          </a:prstGeom>
        </p:spPr>
        <p:txBody>
          <a:bodyPr anchor="t" rtlCol="false" tIns="0" lIns="0" bIns="0" rIns="0">
            <a:spAutoFit/>
          </a:bodyPr>
          <a:lstStyle/>
          <a:p>
            <a:pPr algn="ctr" marL="0" indent="0" lvl="0">
              <a:lnSpc>
                <a:spcPts val="4261"/>
              </a:lnSpc>
            </a:pPr>
            <a:r>
              <a:rPr lang="en-US" b="true" sz="3044" spc="-6">
                <a:solidFill>
                  <a:srgbClr val="283B44"/>
                </a:solidFill>
                <a:latin typeface="Poppins Ultra-Bold"/>
                <a:ea typeface="Poppins Ultra-Bold"/>
                <a:cs typeface="Poppins Ultra-Bold"/>
                <a:sym typeface="Poppins Ultra-Bold"/>
              </a:rPr>
              <a:t>02</a:t>
            </a:r>
          </a:p>
        </p:txBody>
      </p:sp>
      <p:sp>
        <p:nvSpPr>
          <p:cNvPr name="TextBox 31" id="31"/>
          <p:cNvSpPr txBox="true"/>
          <p:nvPr/>
        </p:nvSpPr>
        <p:spPr>
          <a:xfrm rot="0">
            <a:off x="12042173" y="4980504"/>
            <a:ext cx="570793" cy="551330"/>
          </a:xfrm>
          <a:prstGeom prst="rect">
            <a:avLst/>
          </a:prstGeom>
        </p:spPr>
        <p:txBody>
          <a:bodyPr anchor="t" rtlCol="false" tIns="0" lIns="0" bIns="0" rIns="0">
            <a:spAutoFit/>
          </a:bodyPr>
          <a:lstStyle/>
          <a:p>
            <a:pPr algn="ctr" marL="0" indent="0" lvl="0">
              <a:lnSpc>
                <a:spcPts val="4261"/>
              </a:lnSpc>
            </a:pPr>
            <a:r>
              <a:rPr lang="en-US" b="true" sz="3044" spc="-6">
                <a:solidFill>
                  <a:srgbClr val="283B44"/>
                </a:solidFill>
                <a:latin typeface="Poppins Ultra-Bold"/>
                <a:ea typeface="Poppins Ultra-Bold"/>
                <a:cs typeface="Poppins Ultra-Bold"/>
                <a:sym typeface="Poppins Ultra-Bold"/>
              </a:rPr>
              <a:t>03</a:t>
            </a:r>
          </a:p>
        </p:txBody>
      </p:sp>
      <p:sp>
        <p:nvSpPr>
          <p:cNvPr name="Freeform 32" id="32"/>
          <p:cNvSpPr/>
          <p:nvPr/>
        </p:nvSpPr>
        <p:spPr>
          <a:xfrm flipH="false" flipV="false" rot="0">
            <a:off x="-1175609" y="1629893"/>
            <a:ext cx="1918559" cy="1049975"/>
          </a:xfrm>
          <a:custGeom>
            <a:avLst/>
            <a:gdLst/>
            <a:ahLst/>
            <a:cxnLst/>
            <a:rect r="r" b="b" t="t" l="l"/>
            <a:pathLst>
              <a:path h="1049975" w="1918559">
                <a:moveTo>
                  <a:pt x="0" y="0"/>
                </a:moveTo>
                <a:lnTo>
                  <a:pt x="1918559" y="0"/>
                </a:lnTo>
                <a:lnTo>
                  <a:pt x="1918559" y="1049975"/>
                </a:lnTo>
                <a:lnTo>
                  <a:pt x="0" y="10499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3" id="33"/>
          <p:cNvSpPr/>
          <p:nvPr/>
        </p:nvSpPr>
        <p:spPr>
          <a:xfrm flipH="false" flipV="false" rot="5400000">
            <a:off x="15889328" y="-38100"/>
            <a:ext cx="2436772" cy="2436772"/>
          </a:xfrm>
          <a:custGeom>
            <a:avLst/>
            <a:gdLst/>
            <a:ahLst/>
            <a:cxnLst/>
            <a:rect r="r" b="b" t="t" l="l"/>
            <a:pathLst>
              <a:path h="2436772" w="2436772">
                <a:moveTo>
                  <a:pt x="0" y="0"/>
                </a:moveTo>
                <a:lnTo>
                  <a:pt x="2436772" y="0"/>
                </a:lnTo>
                <a:lnTo>
                  <a:pt x="2436772" y="2436772"/>
                </a:lnTo>
                <a:lnTo>
                  <a:pt x="0" y="243677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34" id="34"/>
          <p:cNvSpPr/>
          <p:nvPr/>
        </p:nvSpPr>
        <p:spPr>
          <a:xfrm flipH="false" flipV="false" rot="-5400000">
            <a:off x="-19050" y="7878803"/>
            <a:ext cx="2436772" cy="2436772"/>
          </a:xfrm>
          <a:custGeom>
            <a:avLst/>
            <a:gdLst/>
            <a:ahLst/>
            <a:cxnLst/>
            <a:rect r="r" b="b" t="t" l="l"/>
            <a:pathLst>
              <a:path h="2436772" w="2436772">
                <a:moveTo>
                  <a:pt x="0" y="0"/>
                </a:moveTo>
                <a:lnTo>
                  <a:pt x="2436772" y="0"/>
                </a:lnTo>
                <a:lnTo>
                  <a:pt x="2436772" y="2436772"/>
                </a:lnTo>
                <a:lnTo>
                  <a:pt x="0" y="243677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83B44"/>
        </a:solidFill>
      </p:bgPr>
    </p:bg>
    <p:spTree>
      <p:nvGrpSpPr>
        <p:cNvPr id="1" name=""/>
        <p:cNvGrpSpPr/>
        <p:nvPr/>
      </p:nvGrpSpPr>
      <p:grpSpPr>
        <a:xfrm>
          <a:off x="0" y="0"/>
          <a:ext cx="0" cy="0"/>
          <a:chOff x="0" y="0"/>
          <a:chExt cx="0" cy="0"/>
        </a:xfrm>
      </p:grpSpPr>
      <p:grpSp>
        <p:nvGrpSpPr>
          <p:cNvPr name="Group 2" id="2"/>
          <p:cNvGrpSpPr/>
          <p:nvPr/>
        </p:nvGrpSpPr>
        <p:grpSpPr>
          <a:xfrm rot="0">
            <a:off x="6309116" y="4224240"/>
            <a:ext cx="3445818" cy="4749056"/>
            <a:chOff x="0" y="0"/>
            <a:chExt cx="907540" cy="1250780"/>
          </a:xfrm>
        </p:grpSpPr>
        <p:sp>
          <p:nvSpPr>
            <p:cNvPr name="Freeform 3" id="3"/>
            <p:cNvSpPr/>
            <p:nvPr/>
          </p:nvSpPr>
          <p:spPr>
            <a:xfrm flipH="false" flipV="false" rot="0">
              <a:off x="0" y="0"/>
              <a:ext cx="907540" cy="1250780"/>
            </a:xfrm>
            <a:custGeom>
              <a:avLst/>
              <a:gdLst/>
              <a:ahLst/>
              <a:cxnLst/>
              <a:rect r="r" b="b" t="t" l="l"/>
              <a:pathLst>
                <a:path h="1250780" w="907540">
                  <a:moveTo>
                    <a:pt x="71896" y="0"/>
                  </a:moveTo>
                  <a:lnTo>
                    <a:pt x="835644" y="0"/>
                  </a:lnTo>
                  <a:cubicBezTo>
                    <a:pt x="875351" y="0"/>
                    <a:pt x="907540" y="32189"/>
                    <a:pt x="907540" y="71896"/>
                  </a:cubicBezTo>
                  <a:lnTo>
                    <a:pt x="907540" y="1178884"/>
                  </a:lnTo>
                  <a:cubicBezTo>
                    <a:pt x="907540" y="1197952"/>
                    <a:pt x="899966" y="1216239"/>
                    <a:pt x="886483" y="1229722"/>
                  </a:cubicBezTo>
                  <a:cubicBezTo>
                    <a:pt x="872999" y="1243205"/>
                    <a:pt x="854712" y="1250780"/>
                    <a:pt x="835644" y="1250780"/>
                  </a:cubicBezTo>
                  <a:lnTo>
                    <a:pt x="71896" y="1250780"/>
                  </a:lnTo>
                  <a:cubicBezTo>
                    <a:pt x="52828" y="1250780"/>
                    <a:pt x="34541" y="1243205"/>
                    <a:pt x="21058" y="1229722"/>
                  </a:cubicBezTo>
                  <a:cubicBezTo>
                    <a:pt x="7575" y="1216239"/>
                    <a:pt x="0" y="1197952"/>
                    <a:pt x="0" y="1178884"/>
                  </a:cubicBezTo>
                  <a:lnTo>
                    <a:pt x="0" y="71896"/>
                  </a:lnTo>
                  <a:cubicBezTo>
                    <a:pt x="0" y="52828"/>
                    <a:pt x="7575" y="34541"/>
                    <a:pt x="21058" y="21058"/>
                  </a:cubicBezTo>
                  <a:cubicBezTo>
                    <a:pt x="34541" y="7575"/>
                    <a:pt x="52828" y="0"/>
                    <a:pt x="71896" y="0"/>
                  </a:cubicBezTo>
                  <a:close/>
                </a:path>
              </a:pathLst>
            </a:custGeom>
            <a:solidFill>
              <a:srgbClr val="FFFFFF"/>
            </a:solidFill>
          </p:spPr>
        </p:sp>
        <p:sp>
          <p:nvSpPr>
            <p:cNvPr name="TextBox 4" id="4"/>
            <p:cNvSpPr txBox="true"/>
            <p:nvPr/>
          </p:nvSpPr>
          <p:spPr>
            <a:xfrm>
              <a:off x="0" y="-266700"/>
              <a:ext cx="907540" cy="1517480"/>
            </a:xfrm>
            <a:prstGeom prst="rect">
              <a:avLst/>
            </a:prstGeom>
          </p:spPr>
          <p:txBody>
            <a:bodyPr anchor="ctr" rtlCol="false" tIns="50800" lIns="50800" bIns="50800" rIns="50800"/>
            <a:lstStyle/>
            <a:p>
              <a:pPr algn="ctr" marL="0" indent="0" lvl="0">
                <a:lnSpc>
                  <a:spcPts val="4905"/>
                </a:lnSpc>
              </a:pPr>
            </a:p>
          </p:txBody>
        </p:sp>
      </p:grpSp>
      <p:grpSp>
        <p:nvGrpSpPr>
          <p:cNvPr name="Group 5" id="5"/>
          <p:cNvGrpSpPr/>
          <p:nvPr/>
        </p:nvGrpSpPr>
        <p:grpSpPr>
          <a:xfrm rot="0">
            <a:off x="10158033" y="4224240"/>
            <a:ext cx="3445818" cy="4749056"/>
            <a:chOff x="0" y="0"/>
            <a:chExt cx="907540" cy="1250780"/>
          </a:xfrm>
        </p:grpSpPr>
        <p:sp>
          <p:nvSpPr>
            <p:cNvPr name="Freeform 6" id="6"/>
            <p:cNvSpPr/>
            <p:nvPr/>
          </p:nvSpPr>
          <p:spPr>
            <a:xfrm flipH="false" flipV="false" rot="0">
              <a:off x="0" y="0"/>
              <a:ext cx="907540" cy="1250780"/>
            </a:xfrm>
            <a:custGeom>
              <a:avLst/>
              <a:gdLst/>
              <a:ahLst/>
              <a:cxnLst/>
              <a:rect r="r" b="b" t="t" l="l"/>
              <a:pathLst>
                <a:path h="1250780" w="907540">
                  <a:moveTo>
                    <a:pt x="71896" y="0"/>
                  </a:moveTo>
                  <a:lnTo>
                    <a:pt x="835644" y="0"/>
                  </a:lnTo>
                  <a:cubicBezTo>
                    <a:pt x="875351" y="0"/>
                    <a:pt x="907540" y="32189"/>
                    <a:pt x="907540" y="71896"/>
                  </a:cubicBezTo>
                  <a:lnTo>
                    <a:pt x="907540" y="1178884"/>
                  </a:lnTo>
                  <a:cubicBezTo>
                    <a:pt x="907540" y="1197952"/>
                    <a:pt x="899966" y="1216239"/>
                    <a:pt x="886483" y="1229722"/>
                  </a:cubicBezTo>
                  <a:cubicBezTo>
                    <a:pt x="872999" y="1243205"/>
                    <a:pt x="854712" y="1250780"/>
                    <a:pt x="835644" y="1250780"/>
                  </a:cubicBezTo>
                  <a:lnTo>
                    <a:pt x="71896" y="1250780"/>
                  </a:lnTo>
                  <a:cubicBezTo>
                    <a:pt x="52828" y="1250780"/>
                    <a:pt x="34541" y="1243205"/>
                    <a:pt x="21058" y="1229722"/>
                  </a:cubicBezTo>
                  <a:cubicBezTo>
                    <a:pt x="7575" y="1216239"/>
                    <a:pt x="0" y="1197952"/>
                    <a:pt x="0" y="1178884"/>
                  </a:cubicBezTo>
                  <a:lnTo>
                    <a:pt x="0" y="71896"/>
                  </a:lnTo>
                  <a:cubicBezTo>
                    <a:pt x="0" y="52828"/>
                    <a:pt x="7575" y="34541"/>
                    <a:pt x="21058" y="21058"/>
                  </a:cubicBezTo>
                  <a:cubicBezTo>
                    <a:pt x="34541" y="7575"/>
                    <a:pt x="52828" y="0"/>
                    <a:pt x="71896" y="0"/>
                  </a:cubicBezTo>
                  <a:close/>
                </a:path>
              </a:pathLst>
            </a:custGeom>
            <a:solidFill>
              <a:srgbClr val="FFFFFF"/>
            </a:solidFill>
          </p:spPr>
        </p:sp>
        <p:sp>
          <p:nvSpPr>
            <p:cNvPr name="TextBox 7" id="7"/>
            <p:cNvSpPr txBox="true"/>
            <p:nvPr/>
          </p:nvSpPr>
          <p:spPr>
            <a:xfrm>
              <a:off x="0" y="-266700"/>
              <a:ext cx="907540" cy="1517480"/>
            </a:xfrm>
            <a:prstGeom prst="rect">
              <a:avLst/>
            </a:prstGeom>
          </p:spPr>
          <p:txBody>
            <a:bodyPr anchor="ctr" rtlCol="false" tIns="50800" lIns="50800" bIns="50800" rIns="50800"/>
            <a:lstStyle/>
            <a:p>
              <a:pPr algn="ctr" marL="0" indent="0" lvl="0">
                <a:lnSpc>
                  <a:spcPts val="4905"/>
                </a:lnSpc>
              </a:pPr>
            </a:p>
          </p:txBody>
        </p:sp>
      </p:grpSp>
      <p:grpSp>
        <p:nvGrpSpPr>
          <p:cNvPr name="Group 8" id="8"/>
          <p:cNvGrpSpPr/>
          <p:nvPr/>
        </p:nvGrpSpPr>
        <p:grpSpPr>
          <a:xfrm rot="0">
            <a:off x="6309116" y="1313704"/>
            <a:ext cx="3445818" cy="3625608"/>
            <a:chOff x="0" y="0"/>
            <a:chExt cx="533847" cy="561702"/>
          </a:xfrm>
        </p:grpSpPr>
        <p:sp>
          <p:nvSpPr>
            <p:cNvPr name="Freeform 9" id="9"/>
            <p:cNvSpPr/>
            <p:nvPr/>
          </p:nvSpPr>
          <p:spPr>
            <a:xfrm flipH="false" flipV="false" rot="0">
              <a:off x="0" y="0"/>
              <a:ext cx="533847" cy="561702"/>
            </a:xfrm>
            <a:custGeom>
              <a:avLst/>
              <a:gdLst/>
              <a:ahLst/>
              <a:cxnLst/>
              <a:rect r="r" b="b" t="t" l="l"/>
              <a:pathLst>
                <a:path h="561702" w="533847">
                  <a:moveTo>
                    <a:pt x="60662" y="0"/>
                  </a:moveTo>
                  <a:lnTo>
                    <a:pt x="473185" y="0"/>
                  </a:lnTo>
                  <a:cubicBezTo>
                    <a:pt x="506688" y="0"/>
                    <a:pt x="533847" y="27160"/>
                    <a:pt x="533847" y="60662"/>
                  </a:cubicBezTo>
                  <a:lnTo>
                    <a:pt x="533847" y="501039"/>
                  </a:lnTo>
                  <a:cubicBezTo>
                    <a:pt x="533847" y="534542"/>
                    <a:pt x="506688" y="561702"/>
                    <a:pt x="473185" y="561702"/>
                  </a:cubicBezTo>
                  <a:lnTo>
                    <a:pt x="60662" y="561702"/>
                  </a:lnTo>
                  <a:cubicBezTo>
                    <a:pt x="27160" y="561702"/>
                    <a:pt x="0" y="534542"/>
                    <a:pt x="0" y="501039"/>
                  </a:cubicBezTo>
                  <a:lnTo>
                    <a:pt x="0" y="60662"/>
                  </a:lnTo>
                  <a:cubicBezTo>
                    <a:pt x="0" y="27160"/>
                    <a:pt x="27160" y="0"/>
                    <a:pt x="60662" y="0"/>
                  </a:cubicBezTo>
                  <a:close/>
                </a:path>
              </a:pathLst>
            </a:custGeom>
            <a:blipFill>
              <a:blip r:embed="rId2"/>
              <a:stretch>
                <a:fillRect l="-175" t="0" r="-175" b="0"/>
              </a:stretch>
            </a:blipFill>
          </p:spPr>
        </p:sp>
      </p:grpSp>
      <p:grpSp>
        <p:nvGrpSpPr>
          <p:cNvPr name="Group 10" id="10"/>
          <p:cNvGrpSpPr/>
          <p:nvPr/>
        </p:nvGrpSpPr>
        <p:grpSpPr>
          <a:xfrm rot="0">
            <a:off x="10158033" y="1313704"/>
            <a:ext cx="3445818" cy="3625608"/>
            <a:chOff x="0" y="0"/>
            <a:chExt cx="533847" cy="561702"/>
          </a:xfrm>
        </p:grpSpPr>
        <p:sp>
          <p:nvSpPr>
            <p:cNvPr name="Freeform 11" id="11"/>
            <p:cNvSpPr/>
            <p:nvPr/>
          </p:nvSpPr>
          <p:spPr>
            <a:xfrm flipH="false" flipV="false" rot="0">
              <a:off x="0" y="0"/>
              <a:ext cx="533847" cy="561702"/>
            </a:xfrm>
            <a:custGeom>
              <a:avLst/>
              <a:gdLst/>
              <a:ahLst/>
              <a:cxnLst/>
              <a:rect r="r" b="b" t="t" l="l"/>
              <a:pathLst>
                <a:path h="561702" w="533847">
                  <a:moveTo>
                    <a:pt x="60662" y="0"/>
                  </a:moveTo>
                  <a:lnTo>
                    <a:pt x="473185" y="0"/>
                  </a:lnTo>
                  <a:cubicBezTo>
                    <a:pt x="506688" y="0"/>
                    <a:pt x="533847" y="27160"/>
                    <a:pt x="533847" y="60662"/>
                  </a:cubicBezTo>
                  <a:lnTo>
                    <a:pt x="533847" y="501039"/>
                  </a:lnTo>
                  <a:cubicBezTo>
                    <a:pt x="533847" y="534542"/>
                    <a:pt x="506688" y="561702"/>
                    <a:pt x="473185" y="561702"/>
                  </a:cubicBezTo>
                  <a:lnTo>
                    <a:pt x="60662" y="561702"/>
                  </a:lnTo>
                  <a:cubicBezTo>
                    <a:pt x="27160" y="561702"/>
                    <a:pt x="0" y="534542"/>
                    <a:pt x="0" y="501039"/>
                  </a:cubicBezTo>
                  <a:lnTo>
                    <a:pt x="0" y="60662"/>
                  </a:lnTo>
                  <a:cubicBezTo>
                    <a:pt x="0" y="27160"/>
                    <a:pt x="27160" y="0"/>
                    <a:pt x="60662" y="0"/>
                  </a:cubicBezTo>
                  <a:close/>
                </a:path>
              </a:pathLst>
            </a:custGeom>
            <a:blipFill>
              <a:blip r:embed="rId3"/>
              <a:stretch>
                <a:fillRect l="-175" t="0" r="-175" b="0"/>
              </a:stretch>
            </a:blipFill>
          </p:spPr>
        </p:sp>
      </p:grpSp>
      <p:sp>
        <p:nvSpPr>
          <p:cNvPr name="TextBox 12" id="12"/>
          <p:cNvSpPr txBox="true"/>
          <p:nvPr/>
        </p:nvSpPr>
        <p:spPr>
          <a:xfrm rot="0">
            <a:off x="1451499" y="4218811"/>
            <a:ext cx="5134857" cy="1778017"/>
          </a:xfrm>
          <a:prstGeom prst="rect">
            <a:avLst/>
          </a:prstGeom>
        </p:spPr>
        <p:txBody>
          <a:bodyPr anchor="t" rtlCol="false" tIns="0" lIns="0" bIns="0" rIns="0">
            <a:spAutoFit/>
          </a:bodyPr>
          <a:lstStyle/>
          <a:p>
            <a:pPr algn="l" marL="0" indent="0" lvl="0">
              <a:lnSpc>
                <a:spcPts val="6999"/>
              </a:lnSpc>
            </a:pPr>
            <a:r>
              <a:rPr lang="en-US" sz="4999">
                <a:solidFill>
                  <a:srgbClr val="FFFFFF"/>
                </a:solidFill>
                <a:latin typeface="Poppins"/>
                <a:ea typeface="Poppins"/>
                <a:cs typeface="Poppins"/>
                <a:sym typeface="Poppins"/>
              </a:rPr>
              <a:t>Implementation</a:t>
            </a:r>
          </a:p>
          <a:p>
            <a:pPr algn="l" marL="0" indent="0" lvl="0">
              <a:lnSpc>
                <a:spcPts val="6999"/>
              </a:lnSpc>
            </a:pPr>
            <a:r>
              <a:rPr lang="en-US" sz="4999">
                <a:solidFill>
                  <a:srgbClr val="FFFFFF"/>
                </a:solidFill>
                <a:latin typeface="Poppins"/>
                <a:ea typeface="Poppins"/>
                <a:cs typeface="Poppins"/>
                <a:sym typeface="Poppins"/>
              </a:rPr>
              <a:t>Roadmap</a:t>
            </a:r>
          </a:p>
        </p:txBody>
      </p:sp>
      <p:sp>
        <p:nvSpPr>
          <p:cNvPr name="TextBox 13" id="13"/>
          <p:cNvSpPr txBox="true"/>
          <p:nvPr/>
        </p:nvSpPr>
        <p:spPr>
          <a:xfrm rot="0">
            <a:off x="6677664" y="5611854"/>
            <a:ext cx="2823023" cy="467036"/>
          </a:xfrm>
          <a:prstGeom prst="rect">
            <a:avLst/>
          </a:prstGeom>
        </p:spPr>
        <p:txBody>
          <a:bodyPr anchor="t" rtlCol="false" tIns="0" lIns="0" bIns="0" rIns="0">
            <a:spAutoFit/>
          </a:bodyPr>
          <a:lstStyle/>
          <a:p>
            <a:pPr algn="l" marL="0" indent="0" lvl="0">
              <a:lnSpc>
                <a:spcPts val="1813"/>
              </a:lnSpc>
            </a:pPr>
            <a:r>
              <a:rPr lang="en-US" b="true" sz="1451" spc="110">
                <a:solidFill>
                  <a:srgbClr val="283B44"/>
                </a:solidFill>
                <a:latin typeface="Poppins Bold"/>
                <a:ea typeface="Poppins Bold"/>
                <a:cs typeface="Poppins Bold"/>
                <a:sym typeface="Poppins Bold"/>
              </a:rPr>
              <a:t>Phase 1: Foundation &amp; MVP</a:t>
            </a:r>
          </a:p>
        </p:txBody>
      </p:sp>
      <p:sp>
        <p:nvSpPr>
          <p:cNvPr name="TextBox 14" id="14"/>
          <p:cNvSpPr txBox="true"/>
          <p:nvPr/>
        </p:nvSpPr>
        <p:spPr>
          <a:xfrm rot="0">
            <a:off x="10526580" y="5611854"/>
            <a:ext cx="2823023" cy="468499"/>
          </a:xfrm>
          <a:prstGeom prst="rect">
            <a:avLst/>
          </a:prstGeom>
        </p:spPr>
        <p:txBody>
          <a:bodyPr anchor="t" rtlCol="false" tIns="0" lIns="0" bIns="0" rIns="0">
            <a:spAutoFit/>
          </a:bodyPr>
          <a:lstStyle/>
          <a:p>
            <a:pPr algn="l" marL="0" indent="0" lvl="0">
              <a:lnSpc>
                <a:spcPts val="1813"/>
              </a:lnSpc>
            </a:pPr>
            <a:r>
              <a:rPr lang="en-US" b="true" sz="1451" spc="110">
                <a:solidFill>
                  <a:srgbClr val="283B44"/>
                </a:solidFill>
                <a:latin typeface="Poppins Bold"/>
                <a:ea typeface="Poppins Bold"/>
                <a:cs typeface="Poppins Bold"/>
                <a:sym typeface="Poppins Bold"/>
              </a:rPr>
              <a:t>Phase 2: Automation &amp; Scale</a:t>
            </a:r>
          </a:p>
        </p:txBody>
      </p:sp>
      <p:sp>
        <p:nvSpPr>
          <p:cNvPr name="TextBox 15" id="15"/>
          <p:cNvSpPr txBox="true"/>
          <p:nvPr/>
        </p:nvSpPr>
        <p:spPr>
          <a:xfrm rot="0">
            <a:off x="6677664" y="6105748"/>
            <a:ext cx="2555220" cy="1154430"/>
          </a:xfrm>
          <a:prstGeom prst="rect">
            <a:avLst/>
          </a:prstGeom>
        </p:spPr>
        <p:txBody>
          <a:bodyPr anchor="t" rtlCol="false" tIns="0" lIns="0" bIns="0" rIns="0">
            <a:spAutoFit/>
          </a:bodyPr>
          <a:lstStyle/>
          <a:p>
            <a:pPr algn="l" marL="0" indent="0" lvl="0">
              <a:lnSpc>
                <a:spcPts val="1500"/>
              </a:lnSpc>
            </a:pPr>
            <a:r>
              <a:rPr lang="en-US" sz="1200" spc="15">
                <a:solidFill>
                  <a:srgbClr val="283B44"/>
                </a:solidFill>
                <a:latin typeface="DM Sans"/>
                <a:ea typeface="DM Sans"/>
                <a:cs typeface="DM Sans"/>
                <a:sym typeface="DM Sans"/>
              </a:rPr>
              <a:t>Deploy core LOS/LMS architecture, crypto wallet integration, BTC/ETH collateral support, KYC/AML onboarding, and basic loan origination workflows. Target: live MVP within 90 days.</a:t>
            </a:r>
          </a:p>
        </p:txBody>
      </p:sp>
      <p:sp>
        <p:nvSpPr>
          <p:cNvPr name="TextBox 16" id="16"/>
          <p:cNvSpPr txBox="true"/>
          <p:nvPr/>
        </p:nvSpPr>
        <p:spPr>
          <a:xfrm rot="0">
            <a:off x="10526580" y="6105748"/>
            <a:ext cx="2555220" cy="1154430"/>
          </a:xfrm>
          <a:prstGeom prst="rect">
            <a:avLst/>
          </a:prstGeom>
        </p:spPr>
        <p:txBody>
          <a:bodyPr anchor="t" rtlCol="false" tIns="0" lIns="0" bIns="0" rIns="0">
            <a:spAutoFit/>
          </a:bodyPr>
          <a:lstStyle/>
          <a:p>
            <a:pPr algn="l" marL="0" indent="0" lvl="0">
              <a:lnSpc>
                <a:spcPts val="1500"/>
              </a:lnSpc>
            </a:pPr>
            <a:r>
              <a:rPr lang="en-US" sz="1200" spc="15">
                <a:solidFill>
                  <a:srgbClr val="283B44"/>
                </a:solidFill>
                <a:latin typeface="DM Sans"/>
                <a:ea typeface="DM Sans"/>
                <a:cs typeface="DM Sans"/>
                <a:sym typeface="DM Sans"/>
              </a:rPr>
              <a:t>Introduce smart contract automation, dynamic LTV engine, multi-chain collateral support, risk scoring models, borrower portal, and institutional API integrations for scale.</a:t>
            </a:r>
          </a:p>
        </p:txBody>
      </p:sp>
      <p:grpSp>
        <p:nvGrpSpPr>
          <p:cNvPr name="Group 17" id="17"/>
          <p:cNvGrpSpPr/>
          <p:nvPr/>
        </p:nvGrpSpPr>
        <p:grpSpPr>
          <a:xfrm rot="0">
            <a:off x="14006949" y="4224240"/>
            <a:ext cx="3445818" cy="4749056"/>
            <a:chOff x="0" y="0"/>
            <a:chExt cx="907540" cy="1250780"/>
          </a:xfrm>
        </p:grpSpPr>
        <p:sp>
          <p:nvSpPr>
            <p:cNvPr name="Freeform 18" id="18"/>
            <p:cNvSpPr/>
            <p:nvPr/>
          </p:nvSpPr>
          <p:spPr>
            <a:xfrm flipH="false" flipV="false" rot="0">
              <a:off x="0" y="0"/>
              <a:ext cx="907540" cy="1250780"/>
            </a:xfrm>
            <a:custGeom>
              <a:avLst/>
              <a:gdLst/>
              <a:ahLst/>
              <a:cxnLst/>
              <a:rect r="r" b="b" t="t" l="l"/>
              <a:pathLst>
                <a:path h="1250780" w="907540">
                  <a:moveTo>
                    <a:pt x="71896" y="0"/>
                  </a:moveTo>
                  <a:lnTo>
                    <a:pt x="835644" y="0"/>
                  </a:lnTo>
                  <a:cubicBezTo>
                    <a:pt x="875351" y="0"/>
                    <a:pt x="907540" y="32189"/>
                    <a:pt x="907540" y="71896"/>
                  </a:cubicBezTo>
                  <a:lnTo>
                    <a:pt x="907540" y="1178884"/>
                  </a:lnTo>
                  <a:cubicBezTo>
                    <a:pt x="907540" y="1197952"/>
                    <a:pt x="899966" y="1216239"/>
                    <a:pt x="886483" y="1229722"/>
                  </a:cubicBezTo>
                  <a:cubicBezTo>
                    <a:pt x="872999" y="1243205"/>
                    <a:pt x="854712" y="1250780"/>
                    <a:pt x="835644" y="1250780"/>
                  </a:cubicBezTo>
                  <a:lnTo>
                    <a:pt x="71896" y="1250780"/>
                  </a:lnTo>
                  <a:cubicBezTo>
                    <a:pt x="52828" y="1250780"/>
                    <a:pt x="34541" y="1243205"/>
                    <a:pt x="21058" y="1229722"/>
                  </a:cubicBezTo>
                  <a:cubicBezTo>
                    <a:pt x="7575" y="1216239"/>
                    <a:pt x="0" y="1197952"/>
                    <a:pt x="0" y="1178884"/>
                  </a:cubicBezTo>
                  <a:lnTo>
                    <a:pt x="0" y="71896"/>
                  </a:lnTo>
                  <a:cubicBezTo>
                    <a:pt x="0" y="52828"/>
                    <a:pt x="7575" y="34541"/>
                    <a:pt x="21058" y="21058"/>
                  </a:cubicBezTo>
                  <a:cubicBezTo>
                    <a:pt x="34541" y="7575"/>
                    <a:pt x="52828" y="0"/>
                    <a:pt x="71896" y="0"/>
                  </a:cubicBezTo>
                  <a:close/>
                </a:path>
              </a:pathLst>
            </a:custGeom>
            <a:solidFill>
              <a:srgbClr val="FFFFFF"/>
            </a:solidFill>
          </p:spPr>
        </p:sp>
        <p:sp>
          <p:nvSpPr>
            <p:cNvPr name="TextBox 19" id="19"/>
            <p:cNvSpPr txBox="true"/>
            <p:nvPr/>
          </p:nvSpPr>
          <p:spPr>
            <a:xfrm>
              <a:off x="0" y="-266700"/>
              <a:ext cx="907540" cy="1517480"/>
            </a:xfrm>
            <a:prstGeom prst="rect">
              <a:avLst/>
            </a:prstGeom>
          </p:spPr>
          <p:txBody>
            <a:bodyPr anchor="ctr" rtlCol="false" tIns="50800" lIns="50800" bIns="50800" rIns="50800"/>
            <a:lstStyle/>
            <a:p>
              <a:pPr algn="ctr" marL="0" indent="0" lvl="0">
                <a:lnSpc>
                  <a:spcPts val="4905"/>
                </a:lnSpc>
              </a:pPr>
            </a:p>
          </p:txBody>
        </p:sp>
      </p:grpSp>
      <p:grpSp>
        <p:nvGrpSpPr>
          <p:cNvPr name="Group 20" id="20"/>
          <p:cNvGrpSpPr/>
          <p:nvPr/>
        </p:nvGrpSpPr>
        <p:grpSpPr>
          <a:xfrm rot="0">
            <a:off x="14006949" y="1313704"/>
            <a:ext cx="3445818" cy="3625608"/>
            <a:chOff x="0" y="0"/>
            <a:chExt cx="533847" cy="561702"/>
          </a:xfrm>
        </p:grpSpPr>
        <p:sp>
          <p:nvSpPr>
            <p:cNvPr name="Freeform 21" id="21"/>
            <p:cNvSpPr/>
            <p:nvPr/>
          </p:nvSpPr>
          <p:spPr>
            <a:xfrm flipH="false" flipV="false" rot="0">
              <a:off x="0" y="0"/>
              <a:ext cx="533847" cy="561702"/>
            </a:xfrm>
            <a:custGeom>
              <a:avLst/>
              <a:gdLst/>
              <a:ahLst/>
              <a:cxnLst/>
              <a:rect r="r" b="b" t="t" l="l"/>
              <a:pathLst>
                <a:path h="561702" w="533847">
                  <a:moveTo>
                    <a:pt x="60662" y="0"/>
                  </a:moveTo>
                  <a:lnTo>
                    <a:pt x="473185" y="0"/>
                  </a:lnTo>
                  <a:cubicBezTo>
                    <a:pt x="506688" y="0"/>
                    <a:pt x="533847" y="27160"/>
                    <a:pt x="533847" y="60662"/>
                  </a:cubicBezTo>
                  <a:lnTo>
                    <a:pt x="533847" y="501039"/>
                  </a:lnTo>
                  <a:cubicBezTo>
                    <a:pt x="533847" y="534542"/>
                    <a:pt x="506688" y="561702"/>
                    <a:pt x="473185" y="561702"/>
                  </a:cubicBezTo>
                  <a:lnTo>
                    <a:pt x="60662" y="561702"/>
                  </a:lnTo>
                  <a:cubicBezTo>
                    <a:pt x="27160" y="561702"/>
                    <a:pt x="0" y="534542"/>
                    <a:pt x="0" y="501039"/>
                  </a:cubicBezTo>
                  <a:lnTo>
                    <a:pt x="0" y="60662"/>
                  </a:lnTo>
                  <a:cubicBezTo>
                    <a:pt x="0" y="27160"/>
                    <a:pt x="27160" y="0"/>
                    <a:pt x="60662" y="0"/>
                  </a:cubicBezTo>
                  <a:close/>
                </a:path>
              </a:pathLst>
            </a:custGeom>
            <a:blipFill>
              <a:blip r:embed="rId4"/>
              <a:stretch>
                <a:fillRect l="-175" t="0" r="-175" b="0"/>
              </a:stretch>
            </a:blipFill>
          </p:spPr>
        </p:sp>
      </p:grpSp>
      <p:sp>
        <p:nvSpPr>
          <p:cNvPr name="TextBox 22" id="22"/>
          <p:cNvSpPr txBox="true"/>
          <p:nvPr/>
        </p:nvSpPr>
        <p:spPr>
          <a:xfrm rot="0">
            <a:off x="14375497" y="5587727"/>
            <a:ext cx="2823023" cy="468499"/>
          </a:xfrm>
          <a:prstGeom prst="rect">
            <a:avLst/>
          </a:prstGeom>
        </p:spPr>
        <p:txBody>
          <a:bodyPr anchor="t" rtlCol="false" tIns="0" lIns="0" bIns="0" rIns="0">
            <a:spAutoFit/>
          </a:bodyPr>
          <a:lstStyle/>
          <a:p>
            <a:pPr algn="l" marL="0" indent="0" lvl="0">
              <a:lnSpc>
                <a:spcPts val="1813"/>
              </a:lnSpc>
            </a:pPr>
            <a:r>
              <a:rPr lang="en-US" b="true" sz="1451" spc="110">
                <a:solidFill>
                  <a:srgbClr val="283B44"/>
                </a:solidFill>
                <a:latin typeface="Poppins Bold"/>
                <a:ea typeface="Poppins Bold"/>
                <a:cs typeface="Poppins Bold"/>
                <a:sym typeface="Poppins Bold"/>
              </a:rPr>
              <a:t>Phase 3: Ecosystem Expansion</a:t>
            </a:r>
          </a:p>
        </p:txBody>
      </p:sp>
      <p:sp>
        <p:nvSpPr>
          <p:cNvPr name="TextBox 23" id="23"/>
          <p:cNvSpPr txBox="true"/>
          <p:nvPr/>
        </p:nvSpPr>
        <p:spPr>
          <a:xfrm rot="0">
            <a:off x="14375497" y="6210523"/>
            <a:ext cx="2555220" cy="1154430"/>
          </a:xfrm>
          <a:prstGeom prst="rect">
            <a:avLst/>
          </a:prstGeom>
        </p:spPr>
        <p:txBody>
          <a:bodyPr anchor="t" rtlCol="false" tIns="0" lIns="0" bIns="0" rIns="0">
            <a:spAutoFit/>
          </a:bodyPr>
          <a:lstStyle/>
          <a:p>
            <a:pPr algn="l" marL="0" indent="0" lvl="0">
              <a:lnSpc>
                <a:spcPts val="1500"/>
              </a:lnSpc>
            </a:pPr>
            <a:r>
              <a:rPr lang="en-US" sz="1200" spc="15">
                <a:solidFill>
                  <a:srgbClr val="283B44"/>
                </a:solidFill>
                <a:latin typeface="DM Sans"/>
                <a:ea typeface="DM Sans"/>
                <a:cs typeface="DM Sans"/>
                <a:sym typeface="DM Sans"/>
              </a:rPr>
              <a:t>Launch advanced DeFi products, cross-border lending, predictive analytics, secondary market capabilities, and partner ecosystem integrations to drive global growth.</a:t>
            </a:r>
          </a:p>
        </p:txBody>
      </p:sp>
      <p:sp>
        <p:nvSpPr>
          <p:cNvPr name="Freeform 24" id="24"/>
          <p:cNvSpPr/>
          <p:nvPr/>
        </p:nvSpPr>
        <p:spPr>
          <a:xfrm flipH="false" flipV="false" rot="5400000">
            <a:off x="15889328" y="-38100"/>
            <a:ext cx="2436772" cy="2436772"/>
          </a:xfrm>
          <a:custGeom>
            <a:avLst/>
            <a:gdLst/>
            <a:ahLst/>
            <a:cxnLst/>
            <a:rect r="r" b="b" t="t" l="l"/>
            <a:pathLst>
              <a:path h="2436772" w="2436772">
                <a:moveTo>
                  <a:pt x="0" y="0"/>
                </a:moveTo>
                <a:lnTo>
                  <a:pt x="2436772" y="0"/>
                </a:lnTo>
                <a:lnTo>
                  <a:pt x="2436772" y="2436772"/>
                </a:lnTo>
                <a:lnTo>
                  <a:pt x="0" y="24367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5" id="25"/>
          <p:cNvSpPr/>
          <p:nvPr/>
        </p:nvSpPr>
        <p:spPr>
          <a:xfrm flipH="false" flipV="false" rot="-5400000">
            <a:off x="-19050" y="7878803"/>
            <a:ext cx="2436772" cy="2436772"/>
          </a:xfrm>
          <a:custGeom>
            <a:avLst/>
            <a:gdLst/>
            <a:ahLst/>
            <a:cxnLst/>
            <a:rect r="r" b="b" t="t" l="l"/>
            <a:pathLst>
              <a:path h="2436772" w="2436772">
                <a:moveTo>
                  <a:pt x="0" y="0"/>
                </a:moveTo>
                <a:lnTo>
                  <a:pt x="2436772" y="0"/>
                </a:lnTo>
                <a:lnTo>
                  <a:pt x="2436772" y="2436772"/>
                </a:lnTo>
                <a:lnTo>
                  <a:pt x="0" y="24367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DAHXPahhQsA</dc:identifier>
  <dcterms:modified xsi:type="dcterms:W3CDTF">2011-08-01T06:04:30Z</dcterms:modified>
  <cp:revision>1</cp:revision>
</cp:coreProperties>
</file>