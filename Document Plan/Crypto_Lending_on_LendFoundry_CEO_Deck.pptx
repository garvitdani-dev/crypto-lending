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Active loans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B8A6"/>
              </a:solidFill>
              <a:effectLst/>
            </c:spPr>
          </c:dPt>
          <c:dPt>
            <c:idx val="1"/>
            <c:bubble3D val="0"/>
            <c:spPr>
              <a:solidFill>
                <a:srgbClr val="3478F6"/>
              </a:solidFill>
              <a:effectLst/>
            </c:spPr>
          </c:dPt>
          <c:dPt>
            <c:idx val="2"/>
            <c:bubble3D val="0"/>
            <c:spPr>
              <a:solidFill>
                <a:srgbClr val="F2B84B"/>
              </a:solidFill>
              <a:effectLst/>
            </c:spPr>
          </c:dPt>
          <c:dPt>
            <c:idx val="3"/>
            <c:bubble3D val="0"/>
            <c:spPr>
              <a:solidFill>
                <a:srgbClr val="40566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Aave</c:v>
                </c:pt>
                <c:pt idx="1">
                  <c:v>Morpho</c:v>
                </c:pt>
                <c:pt idx="2">
                  <c:v>Compound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39.7</c:v>
                </c:pt>
                <c:pt idx="1">
                  <c:v>17</c:v>
                </c:pt>
                <c:pt idx="2">
                  <c:v>2</c:v>
                </c:pt>
                <c:pt idx="3">
                  <c:v>41.3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280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280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6766560" y="-731520"/>
            <a:ext cx="6217920" cy="6217920"/>
          </a:xfrm>
          <a:prstGeom prst="arc">
            <a:avLst/>
          </a:prstGeom>
          <a:solidFill>
            <a:srgbClr val="0D2844">
              <a:alpha val="0"/>
            </a:srgbClr>
          </a:solidFill>
          <a:ln w="25400">
            <a:solidFill>
              <a:srgbClr val="1E4568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502920"/>
            <a:ext cx="3474720" cy="3474720"/>
          </a:xfrm>
          <a:prstGeom prst="ellipse">
            <a:avLst/>
          </a:prstGeom>
          <a:solidFill>
            <a:srgbClr val="13B8A6">
              <a:alpha val="8000"/>
            </a:srgbClr>
          </a:solidFill>
          <a:ln w="15240">
            <a:solidFill>
              <a:srgbClr val="13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1097280"/>
            <a:ext cx="2286000" cy="2286000"/>
          </a:xfrm>
          <a:prstGeom prst="ellipse">
            <a:avLst/>
          </a:prstGeom>
          <a:solidFill>
            <a:srgbClr val="3478F6">
              <a:alpha val="10000"/>
            </a:srgbClr>
          </a:solidFill>
          <a:ln w="12700">
            <a:solidFill>
              <a:srgbClr val="3478F6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38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  |  LENDFOUNDRY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143000"/>
            <a:ext cx="2240280" cy="310896"/>
          </a:xfrm>
          <a:prstGeom prst="roundRect">
            <a:avLst>
              <a:gd name="adj" fmla="val 41176"/>
            </a:avLst>
          </a:prstGeom>
          <a:solidFill>
            <a:srgbClr val="12314B"/>
          </a:solidFill>
          <a:ln w="12700">
            <a:solidFill>
              <a:srgbClr val="245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612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DD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 PROPOSAL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627632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Lending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LendFoundry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3310128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5D3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proven origination and servicing with a crypto collateral control plane.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95160" y="1956816"/>
            <a:ext cx="1627632" cy="1371600"/>
          </a:xfrm>
          <a:prstGeom prst="roundRect">
            <a:avLst>
              <a:gd name="adj" fmla="val 8000"/>
            </a:avLst>
          </a:prstGeom>
          <a:solidFill>
            <a:srgbClr val="102F4D"/>
          </a:solidFill>
          <a:ln w="12700">
            <a:solidFill>
              <a:srgbClr val="2A55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10928" y="1956816"/>
            <a:ext cx="1627632" cy="1371600"/>
          </a:xfrm>
          <a:prstGeom prst="roundRect">
            <a:avLst>
              <a:gd name="adj" fmla="val 8000"/>
            </a:avLst>
          </a:prstGeom>
          <a:solidFill>
            <a:srgbClr val="102F4D"/>
          </a:solidFill>
          <a:ln w="12700">
            <a:solidFill>
              <a:srgbClr val="2A55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8624" y="2157984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205472" y="2706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994392" y="2157984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921240" y="2706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732520" y="2505456"/>
            <a:ext cx="868680" cy="0"/>
          </a:xfrm>
          <a:prstGeom prst="line">
            <a:avLst/>
          </a:prstGeom>
          <a:noFill/>
          <a:ln w="3302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714232" y="2816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+ MONITOR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658368" y="4992624"/>
            <a:ext cx="10698480" cy="18288"/>
          </a:xfrm>
          <a:prstGeom prst="rect">
            <a:avLst/>
          </a:prstGeom>
          <a:solidFill>
            <a:srgbClr val="244662"/>
          </a:solidFill>
          <a:ln w="12700">
            <a:solidFill>
              <a:srgbClr val="24466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23036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$43.41B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" y="5733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OUTSTANDING BORROWS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CEFI + DEFI LENDING APPS · Q2 2026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52852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extension—not a new lending stack.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640080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figure: Galaxy Research, 30 Jun 2026. Global outstanding balance; not TVL, revenue or U.S. TAM.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WHAT &amp; WHY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collateral becomes borrowing capacity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Borrowers unlock liquidity without voluntarily selling the asset—but accept continuous LTV and liquidation risk.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16002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2084832"/>
            <a:ext cx="530352" cy="530352"/>
          </a:xfrm>
          <a:prstGeom prst="ellipse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212140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895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crypto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359152" y="2514600"/>
            <a:ext cx="475488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1901952"/>
            <a:ext cx="16002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2084832"/>
            <a:ext cx="530352" cy="530352"/>
          </a:xfrm>
          <a:prstGeom prst="ellipse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12140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Pledge / lock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8895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Custodian or vault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599432" y="2514600"/>
            <a:ext cx="475488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66360" y="1901952"/>
            <a:ext cx="1600200" cy="1225296"/>
          </a:xfrm>
          <a:prstGeom prst="roundRect">
            <a:avLst>
              <a:gd name="adj" fmla="val 8955"/>
            </a:avLst>
          </a:prstGeom>
          <a:solidFill>
            <a:srgbClr val="DDF7F3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96712" y="2084832"/>
            <a:ext cx="530352" cy="53035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96712" y="212140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funded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28895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/ stablecoin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839712" y="2514600"/>
            <a:ext cx="475488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1901952"/>
            <a:ext cx="16002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36992" y="2084832"/>
            <a:ext cx="530352" cy="530352"/>
          </a:xfrm>
          <a:prstGeom prst="ellipse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36992" y="212140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28895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+ charges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9079992" y="2514600"/>
            <a:ext cx="475488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46920" y="1901952"/>
            <a:ext cx="160020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77272" y="2084832"/>
            <a:ext cx="530352" cy="530352"/>
          </a:xfrm>
          <a:prstGeom prst="ellipse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77272" y="212140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38360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38360" y="28895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 returned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85800" y="3703320"/>
            <a:ext cx="3657600" cy="1938528"/>
          </a:xfrm>
          <a:prstGeom prst="roundRect">
            <a:avLst>
              <a:gd name="adj" fmla="val 5660"/>
            </a:avLst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913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3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CAPACITY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4400" y="42611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2900" dirty="0"/>
          </a:p>
        </p:txBody>
      </p:sp>
      <p:sp>
        <p:nvSpPr>
          <p:cNvPr id="37" name="Text 35"/>
          <p:cNvSpPr/>
          <p:nvPr/>
        </p:nvSpPr>
        <p:spPr>
          <a:xfrm>
            <a:off x="950976" y="4736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48840" y="435254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50% LTV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310128" y="4553712"/>
            <a:ext cx="530352" cy="0"/>
          </a:xfrm>
          <a:prstGeom prst="line">
            <a:avLst/>
          </a:prstGeom>
          <a:noFill/>
          <a:ln w="2794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017520" y="4919472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3154680" y="53035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0" y="3703320"/>
            <a:ext cx="315468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913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BORROW?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4315968"/>
            <a:ext cx="384048" cy="310896"/>
          </a:xfrm>
          <a:prstGeom prst="roundRect">
            <a:avLst>
              <a:gd name="adj" fmla="val 41176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3342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21808" y="4315968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without a voluntary sale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4800600" y="4718304"/>
            <a:ext cx="384048" cy="310896"/>
          </a:xfrm>
          <a:prstGeom prst="roundRect">
            <a:avLst>
              <a:gd name="adj" fmla="val 41176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7365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21808" y="471830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market exposure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4800600" y="5120640"/>
            <a:ext cx="384048" cy="310896"/>
          </a:xfrm>
          <a:prstGeom prst="roundRect">
            <a:avLst>
              <a:gd name="adj" fmla="val 41176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51389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321808" y="512064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Collateral-driven decisioning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7955280" y="3703320"/>
            <a:ext cx="3566160" cy="1938528"/>
          </a:xfrm>
          <a:prstGeom prst="roundRect">
            <a:avLst>
              <a:gd name="adj" fmla="val 5660"/>
            </a:avLst>
          </a:prstGeom>
          <a:solidFill>
            <a:srgbClr val="FFF3D6"/>
          </a:solidFill>
          <a:ln w="12700">
            <a:solidFill>
              <a:srgbClr val="F5D99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83880" y="3913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A6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TRADE-OFF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183880" y="43159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decline → higher LTV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183880" y="4709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→ top-up / repay → liquidation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183880" y="507492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Overcollateralization reduces exposure; it does not remove price-gap, custody, oracle or execution risk.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530352" y="6355080"/>
            <a:ext cx="11128248" cy="0"/>
          </a:xfrm>
          <a:prstGeom prst="line">
            <a:avLst/>
          </a:prstGeom>
          <a:noFill/>
          <a:ln w="8890">
            <a:solidFill>
              <a:srgbClr val="D8E1EA"/>
            </a:solidFill>
            <a:prstDash val="solid"/>
            <a:tailEnd type="none"/>
          </a:ln>
        </p:spPr>
      </p:sp>
      <p:sp>
        <p:nvSpPr>
          <p:cNvPr id="59" name="Text 57"/>
          <p:cNvSpPr/>
          <p:nvPr/>
        </p:nvSpPr>
        <p:spPr>
          <a:xfrm>
            <a:off x="548640" y="640994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values only. Tax treatment depends on facts; IRS treats digital assets as property and sales can create gain or loss.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280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WORKFLOW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loan. Five control gates. Two LendFoundry systems.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 models 18 detailed stages; the executive view is a five-gate lifecycle with continuous monitoring.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1947672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2011680"/>
            <a:ext cx="384048" cy="384048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02082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1975104"/>
            <a:ext cx="1179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50545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· consent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terms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542032" y="2523744"/>
            <a:ext cx="274320" cy="0"/>
          </a:xfrm>
          <a:prstGeom prst="line">
            <a:avLst/>
          </a:prstGeom>
          <a:noFill/>
          <a:ln w="2540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62072" y="1847088"/>
            <a:ext cx="1947672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8376" y="2011680"/>
            <a:ext cx="384048" cy="384048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202082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02152" y="1975104"/>
            <a:ext cx="1179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26664" y="250545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KYC/AML · jurisdiction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· asset · balance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855464" y="2523744"/>
            <a:ext cx="274320" cy="0"/>
          </a:xfrm>
          <a:prstGeom prst="line">
            <a:avLst/>
          </a:prstGeom>
          <a:noFill/>
          <a:ln w="2540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75504" y="1847088"/>
            <a:ext cx="1947672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1808" y="2011680"/>
            <a:ext cx="384048" cy="38404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202082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15584" y="1975104"/>
            <a:ext cx="1179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0096" y="250545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· LTV · policy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· offer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68896" y="2523744"/>
            <a:ext cx="274320" cy="0"/>
          </a:xfrm>
          <a:prstGeom prst="line">
            <a:avLst/>
          </a:prstGeom>
          <a:noFill/>
          <a:ln w="2540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88936" y="1847088"/>
            <a:ext cx="1947672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011680"/>
            <a:ext cx="384048" cy="384048"/>
          </a:xfrm>
          <a:prstGeom prst="ellipse">
            <a:avLst/>
          </a:prstGeom>
          <a:solidFill>
            <a:srgbClr val="0D2844"/>
          </a:solidFill>
          <a:ln w="12700">
            <a:solidFill>
              <a:srgbClr val="0D28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02082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29016" y="1975104"/>
            <a:ext cx="1179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&amp; FUND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53528" y="250545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· deposit/lock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· disbursement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9482328" y="2523744"/>
            <a:ext cx="274320" cy="0"/>
          </a:xfrm>
          <a:prstGeom prst="line">
            <a:avLst/>
          </a:prstGeom>
          <a:noFill/>
          <a:ln w="2540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02368" y="1847088"/>
            <a:ext cx="1947672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011680"/>
            <a:ext cx="384048" cy="384048"/>
          </a:xfrm>
          <a:prstGeom prst="ellipse">
            <a:avLst/>
          </a:prstGeom>
          <a:solidFill>
            <a:srgbClr val="087D73"/>
          </a:solidFill>
          <a:ln w="12700">
            <a:solidFill>
              <a:srgbClr val="087D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48672" y="2020824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42448" y="1975104"/>
            <a:ext cx="1179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 CLOSE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66960" y="2505456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· repay · collect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or liquidate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48640" y="3493008"/>
            <a:ext cx="8156448" cy="713232"/>
          </a:xfrm>
          <a:prstGeom prst="roundRect">
            <a:avLst>
              <a:gd name="adj" fmla="val 12821"/>
            </a:avLst>
          </a:prstGeom>
          <a:solidFill>
            <a:srgbClr val="E8F0FF"/>
          </a:solidFill>
          <a:ln w="12700">
            <a:solidFill>
              <a:srgbClr val="BBD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36210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7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· ORIGINATION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88920" y="35844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application → verification → underwriting → offer → agreement → funding decision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887968" y="349300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DDF7F3"/>
          </a:solidFill>
          <a:ln w="12700">
            <a:solidFill>
              <a:srgbClr val="A7E6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16568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LSS / LMS · SERVICING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572000"/>
            <a:ext cx="11082528" cy="1115568"/>
          </a:xfrm>
          <a:prstGeom prst="roundRect">
            <a:avLst>
              <a:gd name="adj" fmla="val 9836"/>
            </a:avLst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3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7 COLLATERAL LOOP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61488" y="4736592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12314B"/>
          </a:solidFill>
          <a:ln w="12700">
            <a:solidFill>
              <a:srgbClr val="274B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52928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D8E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PRICE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31920" y="4892040"/>
            <a:ext cx="155448" cy="0"/>
          </a:xfrm>
          <a:prstGeom prst="line">
            <a:avLst/>
          </a:prstGeom>
          <a:noFill/>
          <a:ln w="1651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133088" y="4736592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12314B"/>
          </a:solidFill>
          <a:ln w="12700">
            <a:solidFill>
              <a:srgbClr val="274B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24528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D8E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REVALUE COLLATERAL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303520" y="4892040"/>
            <a:ext cx="155448" cy="0"/>
          </a:xfrm>
          <a:prstGeom prst="line">
            <a:avLst/>
          </a:prstGeom>
          <a:noFill/>
          <a:ln w="1651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504688" y="4736592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12314B"/>
          </a:solidFill>
          <a:ln w="12700">
            <a:solidFill>
              <a:srgbClr val="274B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96128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D8E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RECALCULATE LTV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75120" y="4892040"/>
            <a:ext cx="155448" cy="0"/>
          </a:xfrm>
          <a:prstGeom prst="line">
            <a:avLst/>
          </a:prstGeom>
          <a:noFill/>
          <a:ln w="1651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876288" y="4736592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12314B"/>
          </a:solidFill>
          <a:ln w="12700">
            <a:solidFill>
              <a:srgbClr val="274B6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67728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D8E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/ CURE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046720" y="4892040"/>
            <a:ext cx="155448" cy="0"/>
          </a:xfrm>
          <a:prstGeom prst="line">
            <a:avLst/>
          </a:prstGeom>
          <a:noFill/>
          <a:ln w="1651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247888" y="4736592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47242B"/>
          </a:solidFill>
          <a:ln w="12700">
            <a:solidFill>
              <a:srgbClr val="8B3D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39328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LIQUIDATE IF ELIGIBLE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418320" y="4892040"/>
            <a:ext cx="155448" cy="0"/>
          </a:xfrm>
          <a:prstGeom prst="line">
            <a:avLst/>
          </a:prstGeom>
          <a:noFill/>
          <a:ln w="1651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619488" y="4736592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12314B"/>
          </a:solidFill>
          <a:ln w="12700">
            <a:solidFill>
              <a:srgbClr val="274B6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10928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D8E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04672" y="525780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and release fail closed when compliance, valuation, collateral control or reconciliation is unresolved.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530352" y="6355080"/>
            <a:ext cx="11128248" cy="0"/>
          </a:xfrm>
          <a:prstGeom prst="line">
            <a:avLst/>
          </a:prstGeom>
          <a:noFill/>
          <a:ln w="8890">
            <a:solidFill>
              <a:srgbClr val="D8E1EA"/>
            </a:solidFill>
            <a:prstDash val="solid"/>
            <a:tailEnd type="none"/>
          </a:ln>
        </p:spPr>
      </p:sp>
      <p:sp>
        <p:nvSpPr>
          <p:cNvPr id="60" name="Text 58"/>
          <p:cNvSpPr/>
          <p:nvPr/>
        </p:nvSpPr>
        <p:spPr>
          <a:xfrm>
            <a:off x="548640" y="640994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LendFoundry API documentation and LMS overview, accessed 6 Oct 2026. Prototype workflow: src/domain.js.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280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MARKET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Material, concentrated—and cyclical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outstanding loans, TVL, originations and revenue separate.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73352"/>
            <a:ext cx="5532120" cy="427939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92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OUTSTANDING BORROWS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22128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$43.41B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224528" y="2304288"/>
            <a:ext cx="1335024" cy="310896"/>
          </a:xfrm>
          <a:prstGeom prst="roundRect">
            <a:avLst>
              <a:gd name="adj" fmla="val 41176"/>
            </a:avLst>
          </a:prstGeom>
          <a:solidFill>
            <a:srgbClr val="FCE6E8"/>
          </a:solidFill>
          <a:ln w="12700">
            <a:solidFill>
              <a:srgbClr val="F4B9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232257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E25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−19.08% QoQ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68680" y="3127248"/>
            <a:ext cx="2590335" cy="566928"/>
          </a:xfrm>
          <a:prstGeom prst="roundRect">
            <a:avLst>
              <a:gd name="adj" fmla="val 12903"/>
            </a:avLst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9015" y="3127248"/>
            <a:ext cx="2301705" cy="566928"/>
          </a:xfrm>
          <a:prstGeom prst="roundRect">
            <a:avLst>
              <a:gd name="adj" fmla="val 12903"/>
            </a:avLst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246120"/>
            <a:ext cx="2407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CeFi  $22.98B  |  52.95%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8743" y="3246120"/>
            <a:ext cx="21188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apps  $20.43B  |  47.05%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" y="4023360"/>
            <a:ext cx="4892040" cy="841248"/>
          </a:xfrm>
          <a:prstGeom prst="roundRect">
            <a:avLst>
              <a:gd name="adj" fmla="val 13043"/>
            </a:avLst>
          </a:prstGeom>
          <a:solidFill>
            <a:srgbClr val="EEF2F6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41970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$56.16B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60320" y="411480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crypto-collateralized lending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crypto-backed CDP stablecoins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14400" y="5138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25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40.13% below the Q3 2025 peak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08960" y="5138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balances; possible double counting.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27648" y="1673352"/>
            <a:ext cx="5303520" cy="4279392"/>
          </a:xfrm>
          <a:prstGeom prst="roundRect">
            <a:avLst>
              <a:gd name="adj" fmla="val 2564"/>
            </a:avLst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892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ACTIVE-LOAN SHARE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528816" y="2267712"/>
          <a:ext cx="2542032" cy="2249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7086600" y="29992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$33.11B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040880" y="33375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active loans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217152" y="2414016"/>
            <a:ext cx="128016" cy="128016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64040" y="23408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625328" y="233172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39.7%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217152" y="2898648"/>
            <a:ext cx="128016" cy="128016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64040" y="28254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MORPHO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625328" y="28163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217152" y="3383280"/>
            <a:ext cx="128016" cy="128016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64040" y="33101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625328" y="330098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217152" y="3867912"/>
            <a:ext cx="128016" cy="128016"/>
          </a:xfrm>
          <a:prstGeom prst="ellipse">
            <a:avLst/>
          </a:prstGeom>
          <a:solidFill>
            <a:srgbClr val="60758A"/>
          </a:solidFill>
          <a:ln w="12700">
            <a:solidFill>
              <a:srgbClr val="60758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464040" y="37947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0625328" y="378561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41.3%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656832" y="4855464"/>
            <a:ext cx="4526280" cy="310896"/>
          </a:xfrm>
          <a:prstGeom prst="roundRect">
            <a:avLst>
              <a:gd name="adj" fmla="val 41176"/>
            </a:avLst>
          </a:prstGeom>
          <a:solidFill>
            <a:srgbClr val="12314B"/>
          </a:solidFill>
          <a:ln w="12700">
            <a:solidFill>
              <a:srgbClr val="2A557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48272" y="487375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DD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TRACKED CEFI = 74.96%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812280" y="526694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Tether 58.54%  ·  Maple 8.91%  ·  Nexo 7.51%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530352" y="6355080"/>
            <a:ext cx="11128248" cy="0"/>
          </a:xfrm>
          <a:prstGeom prst="line">
            <a:avLst/>
          </a:prstGeom>
          <a:noFill/>
          <a:ln w="8890">
            <a:solidFill>
              <a:srgbClr val="D8E1EA"/>
            </a:solidFill>
            <a:prstDash val="solid"/>
            <a:tailEnd type="none"/>
          </a:ln>
        </p:spPr>
      </p:sp>
      <p:sp>
        <p:nvSpPr>
          <p:cNvPr id="40" name="Text 37"/>
          <p:cNvSpPr/>
          <p:nvPr/>
        </p:nvSpPr>
        <p:spPr>
          <a:xfrm>
            <a:off x="548640" y="640994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Galaxy Research, 17 Aug 2026 (30 Jun balances); DefiLlama Active Loans, accessed 6 Oct 2026. Different dates and methodologies.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280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LENDFOUNDRY 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lending core. Add a crypto control plane.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differentiation is configurable enterprise operations—not a proprietary liquidity pool.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0784"/>
            <a:ext cx="5257800" cy="3447288"/>
          </a:xfrm>
          <a:prstGeom prst="roundRect">
            <a:avLst>
              <a:gd name="adj" fmla="val 3183"/>
            </a:avLst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938528"/>
            <a:ext cx="1920240" cy="310896"/>
          </a:xfrm>
          <a:prstGeom prst="roundRect">
            <a:avLst>
              <a:gd name="adj" fmla="val 41176"/>
            </a:avLst>
          </a:prstGeom>
          <a:solidFill>
            <a:srgbClr val="12314B"/>
          </a:solidFill>
          <a:ln w="12700">
            <a:solidFill>
              <a:srgbClr val="2A55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568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DD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LENDING LAYER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LendFoundry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77824" y="2953512"/>
            <a:ext cx="868680" cy="310896"/>
          </a:xfrm>
          <a:prstGeom prst="roundRect">
            <a:avLst>
              <a:gd name="adj" fmla="val 41176"/>
            </a:avLst>
          </a:prstGeom>
          <a:solidFill>
            <a:srgbClr val="183A58"/>
          </a:solidFill>
          <a:ln w="12700">
            <a:solidFill>
              <a:srgbClr val="2D5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9718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20240" y="29260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· verification · underwriting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7824" y="3429000"/>
            <a:ext cx="868680" cy="310896"/>
          </a:xfrm>
          <a:prstGeom prst="roundRect">
            <a:avLst>
              <a:gd name="adj" fmla="val 41176"/>
            </a:avLst>
          </a:prstGeom>
          <a:solidFill>
            <a:srgbClr val="183A58"/>
          </a:solidFill>
          <a:ln w="12700">
            <a:solidFill>
              <a:srgbClr val="2D55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4472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20240" y="34015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· documents · eSign · funding gate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7824" y="3904488"/>
            <a:ext cx="868680" cy="310896"/>
          </a:xfrm>
          <a:prstGeom prst="roundRect">
            <a:avLst>
              <a:gd name="adj" fmla="val 41176"/>
            </a:avLst>
          </a:prstGeom>
          <a:solidFill>
            <a:srgbClr val="087D73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9227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LSS / LMS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0" y="38770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 · payments · collections · closure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" y="4379976"/>
            <a:ext cx="868680" cy="310896"/>
          </a:xfrm>
          <a:prstGeom prst="roundRect">
            <a:avLst>
              <a:gd name="adj" fmla="val 41176"/>
            </a:avLst>
          </a:prstGeom>
          <a:solidFill>
            <a:srgbClr val="183A58"/>
          </a:solidFill>
          <a:ln w="12700">
            <a:solidFill>
              <a:srgbClr val="2D55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43982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0" y="43525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· partner · back office · reporting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41848" y="2980944"/>
            <a:ext cx="658368" cy="658368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41848" y="297180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108192" y="1700784"/>
            <a:ext cx="5486400" cy="3447288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1938528"/>
            <a:ext cx="2286000" cy="310896"/>
          </a:xfrm>
          <a:prstGeom prst="roundRect">
            <a:avLst>
              <a:gd name="adj" fmla="val 41176"/>
            </a:avLst>
          </a:prstGeom>
          <a:solidFill>
            <a:srgbClr val="FFF3D6"/>
          </a:solidFill>
          <a:ln w="12700">
            <a:solidFill>
              <a:srgbClr val="F1D5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1956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9A6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CRYPTO CONTROL PLANE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0" y="2523744"/>
            <a:ext cx="2267712" cy="576072"/>
          </a:xfrm>
          <a:prstGeom prst="roundRect">
            <a:avLst>
              <a:gd name="adj" fmla="val 19048"/>
            </a:avLst>
          </a:prstGeom>
          <a:solidFill>
            <a:srgbClr val="DDF7F3"/>
          </a:solidFill>
          <a:ln w="12700">
            <a:solidFill>
              <a:srgbClr val="B8E9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26151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/ custody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528816" y="28254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transaction state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8915400" y="2523744"/>
            <a:ext cx="2267712" cy="576072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C4D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43416" y="26151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9043416" y="282549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+ transaction risk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400800" y="3273552"/>
            <a:ext cx="2267712" cy="576072"/>
          </a:xfrm>
          <a:prstGeom prst="roundRect">
            <a:avLst>
              <a:gd name="adj" fmla="val 19048"/>
            </a:avLst>
          </a:prstGeom>
          <a:solidFill>
            <a:srgbClr val="DDF7F3"/>
          </a:solidFill>
          <a:ln w="12700">
            <a:solidFill>
              <a:srgbClr val="B8E9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33649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LTV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6528816" y="357530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source + continuous health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8915400" y="3273552"/>
            <a:ext cx="2267712" cy="576072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C4D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43416" y="33649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monitor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9043416" y="357530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RPC/indexer + finality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6400800" y="4023360"/>
            <a:ext cx="2267712" cy="576072"/>
          </a:xfrm>
          <a:prstGeom prst="roundRect">
            <a:avLst>
              <a:gd name="adj" fmla="val 19048"/>
            </a:avLst>
          </a:prstGeom>
          <a:solidFill>
            <a:srgbClr val="DDF7F3"/>
          </a:solidFill>
          <a:ln w="12700">
            <a:solidFill>
              <a:srgbClr val="B8E9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4114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Liquidation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6528816" y="43251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+ venue + fills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8915400" y="4023360"/>
            <a:ext cx="2267712" cy="576072"/>
          </a:xfrm>
          <a:prstGeom prst="roundRect">
            <a:avLst>
              <a:gd name="adj" fmla="val 19048"/>
            </a:avLst>
          </a:prstGeom>
          <a:solidFill>
            <a:srgbClr val="E8F0FF"/>
          </a:solidFill>
          <a:ln w="12700">
            <a:solidFill>
              <a:srgbClr val="C4D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43416" y="4114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9043416" y="432511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LOS/LMS ↔ bank ↔ custodian ↔ chain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594360" y="5422392"/>
            <a:ext cx="11000232" cy="658368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" y="5596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7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OPPORTUNITY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606040" y="55504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 $5M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858768" y="5705856"/>
            <a:ext cx="484632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4480560" y="5550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scale  $50M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5705856"/>
            <a:ext cx="484632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6839712" y="5550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Multi-partner  $375M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869680" y="5577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E25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managed balances—not forecasts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530352" y="6355080"/>
            <a:ext cx="11128248" cy="0"/>
          </a:xfrm>
          <a:prstGeom prst="line">
            <a:avLst/>
          </a:prstGeom>
          <a:noFill/>
          <a:ln w="8890">
            <a:solidFill>
              <a:srgbClr val="D8E1EA"/>
            </a:solidFill>
            <a:prstDash val="solid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548640" y="640994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LendFoundry official sources: API lifecycle, LMS boundary and 90+ integrations claim. Publicly verifiable LendFoundry market share: not identified.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280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COMPETITIVE LANDSCAPE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models win on different dimensions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leads in automation and transparency; CeFi leads in guided UX; LendFoundry can lead in configurable enterprise operations.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8912" y="1682496"/>
            <a:ext cx="1353312" cy="530352"/>
          </a:xfrm>
          <a:prstGeom prst="rect">
            <a:avLst/>
          </a:prstGeom>
          <a:solidFill>
            <a:srgbClr val="071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80136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92224" y="1682496"/>
            <a:ext cx="1874520" cy="530352"/>
          </a:xfrm>
          <a:prstGeom prst="rect">
            <a:avLst/>
          </a:prstGeom>
          <a:solidFill>
            <a:srgbClr val="071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5376" y="1801368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666744" y="1682496"/>
            <a:ext cx="1874520" cy="530352"/>
          </a:xfrm>
          <a:prstGeom prst="rect">
            <a:avLst/>
          </a:prstGeom>
          <a:solidFill>
            <a:srgbClr val="071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801368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541264" y="1682496"/>
            <a:ext cx="1874520" cy="530352"/>
          </a:xfrm>
          <a:prstGeom prst="rect">
            <a:avLst/>
          </a:prstGeom>
          <a:solidFill>
            <a:srgbClr val="071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14416" y="1801368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415784" y="1682496"/>
            <a:ext cx="1874520" cy="530352"/>
          </a:xfrm>
          <a:prstGeom prst="rect">
            <a:avLst/>
          </a:prstGeom>
          <a:solidFill>
            <a:srgbClr val="071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88936" y="1801368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LEDN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9290304" y="1682496"/>
            <a:ext cx="2487168" cy="530352"/>
          </a:xfrm>
          <a:prstGeom prst="rect">
            <a:avLst/>
          </a:prstGeom>
          <a:solidFill>
            <a:srgbClr val="087D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63456" y="1801368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 PROPOSED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438912" y="2212848"/>
            <a:ext cx="13533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792224" y="2212848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22860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pool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666744" y="2212848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2860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market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541264" y="2212848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22860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CeFi credit line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415784" y="2212848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2860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term loan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290304" y="2212848"/>
            <a:ext cx="2487168" cy="658368"/>
          </a:xfrm>
          <a:prstGeom prst="rect">
            <a:avLst/>
          </a:prstGeom>
          <a:solidFill>
            <a:srgbClr val="F1FBF9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22860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platform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38912" y="2871216"/>
            <a:ext cx="1353312" cy="6583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29443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792224" y="2871216"/>
            <a:ext cx="1874520" cy="6583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74520" y="2944368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666744" y="2871216"/>
            <a:ext cx="1874520" cy="6583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2944368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41264" y="2871216"/>
            <a:ext cx="1874520" cy="6583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2944368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Custodial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415784" y="2871216"/>
            <a:ext cx="1874520" cy="6583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2944368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custody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290304" y="2871216"/>
            <a:ext cx="2487168" cy="658368"/>
          </a:xfrm>
          <a:prstGeom prst="rect">
            <a:avLst/>
          </a:prstGeom>
          <a:solidFill>
            <a:srgbClr val="E6F8F5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294436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3rd-party custody v1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13533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360273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/ OPS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1792224" y="3529584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74520" y="3602736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Protocol-native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3666744" y="3529584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0" y="3602736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Protocol-native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541264" y="3529584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3560" y="3602736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7415784" y="3529584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0" y="3602736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9290304" y="3529584"/>
            <a:ext cx="2487168" cy="658368"/>
          </a:xfrm>
          <a:prstGeom prst="rect">
            <a:avLst/>
          </a:prstGeom>
          <a:solidFill>
            <a:srgbClr val="F1FBF9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72600" y="3602736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+ back office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438912" y="4187952"/>
            <a:ext cx="1353312" cy="6583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1208" y="42611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1792224" y="4187952"/>
            <a:ext cx="1874520" cy="6583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74520" y="4261104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+ liquidity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3666744" y="4187952"/>
            <a:ext cx="1874520" cy="6583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4261104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autonomous rules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5541264" y="4187952"/>
            <a:ext cx="1874520" cy="6583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23560" y="4261104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assets + speed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7415784" y="4187952"/>
            <a:ext cx="1874520" cy="6583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0" y="4261104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clarity + transparency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9290304" y="4187952"/>
            <a:ext cx="2487168" cy="658368"/>
          </a:xfrm>
          <a:prstGeom prst="rect">
            <a:avLst/>
          </a:prstGeom>
          <a:solidFill>
            <a:srgbClr val="E6F8F5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72600" y="426110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lifecycle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438912" y="4846320"/>
            <a:ext cx="13533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1208" y="4919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1792224" y="484632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74520" y="49194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/ contract risk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3666744" y="484632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49194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+ no LOS</a:t>
            </a:r>
            <a:endParaRPr lang="en-US" sz="880" dirty="0"/>
          </a:p>
        </p:txBody>
      </p:sp>
      <p:sp>
        <p:nvSpPr>
          <p:cNvPr id="71" name="Shape 69"/>
          <p:cNvSpPr/>
          <p:nvPr/>
        </p:nvSpPr>
        <p:spPr>
          <a:xfrm>
            <a:off x="5541264" y="484632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23560" y="49194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Counterparty / closed rules</a:t>
            </a:r>
            <a:endParaRPr lang="en-US" sz="880" dirty="0"/>
          </a:p>
        </p:txBody>
      </p:sp>
      <p:sp>
        <p:nvSpPr>
          <p:cNvPr id="73" name="Shape 71"/>
          <p:cNvSpPr/>
          <p:nvPr/>
        </p:nvSpPr>
        <p:spPr>
          <a:xfrm>
            <a:off x="7415784" y="4846320"/>
            <a:ext cx="1874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0" y="49194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Narrower product</a:t>
            </a:r>
            <a:endParaRPr lang="en-US" sz="880" dirty="0"/>
          </a:p>
        </p:txBody>
      </p:sp>
      <p:sp>
        <p:nvSpPr>
          <p:cNvPr id="75" name="Shape 73"/>
          <p:cNvSpPr/>
          <p:nvPr/>
        </p:nvSpPr>
        <p:spPr>
          <a:xfrm>
            <a:off x="9290304" y="4846320"/>
            <a:ext cx="2487168" cy="658368"/>
          </a:xfrm>
          <a:prstGeom prst="rect">
            <a:avLst/>
          </a:prstGeom>
          <a:solidFill>
            <a:srgbClr val="F1FBF9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72600" y="4919472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layer unbuilt</a:t>
            </a:r>
            <a:endParaRPr lang="en-US" sz="880" dirty="0"/>
          </a:p>
        </p:txBody>
      </p:sp>
      <p:sp>
        <p:nvSpPr>
          <p:cNvPr id="77" name="Shape 75"/>
          <p:cNvSpPr/>
          <p:nvPr/>
        </p:nvSpPr>
        <p:spPr>
          <a:xfrm>
            <a:off x="438912" y="5541264"/>
            <a:ext cx="5623560" cy="566928"/>
          </a:xfrm>
          <a:prstGeom prst="roundRect">
            <a:avLst>
              <a:gd name="adj" fmla="val 19355"/>
            </a:avLst>
          </a:prstGeom>
          <a:solidFill>
            <a:srgbClr val="DDF7F3"/>
          </a:solidFill>
          <a:ln w="12700">
            <a:solidFill>
              <a:srgbClr val="A9E6D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" y="56692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371600" y="5623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Health-factor UX · real-time LTV · top-ups · transparent custody · automated evidence</a:t>
            </a:r>
            <a:endParaRPr lang="en-US" sz="930" dirty="0"/>
          </a:p>
        </p:txBody>
      </p:sp>
      <p:sp>
        <p:nvSpPr>
          <p:cNvPr id="80" name="Shape 78"/>
          <p:cNvSpPr/>
          <p:nvPr/>
        </p:nvSpPr>
        <p:spPr>
          <a:xfrm>
            <a:off x="6236208" y="5541264"/>
            <a:ext cx="5513832" cy="566928"/>
          </a:xfrm>
          <a:prstGeom prst="roundRect">
            <a:avLst>
              <a:gd name="adj" fmla="val 19355"/>
            </a:avLst>
          </a:prstGeom>
          <a:solidFill>
            <a:srgbClr val="FFF3D6"/>
          </a:solidFill>
          <a:ln w="12700">
            <a:solidFill>
              <a:srgbClr val="EED28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37376" y="56692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6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EDGE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269480" y="56235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LOS + servicing + approvals + portals + multi-provider choice</a:t>
            </a:r>
            <a:endParaRPr lang="en-US" sz="930" dirty="0"/>
          </a:p>
        </p:txBody>
      </p:sp>
      <p:sp>
        <p:nvSpPr>
          <p:cNvPr id="83" name="Shape 81"/>
          <p:cNvSpPr/>
          <p:nvPr/>
        </p:nvSpPr>
        <p:spPr>
          <a:xfrm>
            <a:off x="530352" y="6355080"/>
            <a:ext cx="11128248" cy="0"/>
          </a:xfrm>
          <a:prstGeom prst="line">
            <a:avLst/>
          </a:prstGeom>
          <a:noFill/>
          <a:ln w="8890">
            <a:solidFill>
              <a:srgbClr val="D8E1EA"/>
            </a:solidFill>
            <a:prstDash val="solid"/>
            <a:tailEnd type="none"/>
          </a:ln>
        </p:spPr>
      </p:sp>
      <p:sp>
        <p:nvSpPr>
          <p:cNvPr id="84" name="Text 82"/>
          <p:cNvSpPr/>
          <p:nvPr/>
        </p:nvSpPr>
        <p:spPr>
          <a:xfrm>
            <a:off x="548640" y="640994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Aave and Compound protocol docs; Nexo, Ledn and Unchained product disclosures; accessed 6 Oct 2026. Availability varies by jurisdiction.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280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GAP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collateral control—not loan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connection alone does not make a product non-custodial; control after deposit defines the model.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A9E6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1907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DDF7F3"/>
          </a:solidFill>
          <a:ln w="12700">
            <a:solidFill>
              <a:srgbClr val="A9E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47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450592"/>
            <a:ext cx="164592" cy="164592"/>
          </a:xfrm>
          <a:prstGeom prst="ellipse">
            <a:avLst/>
          </a:prstGeom>
          <a:solidFill>
            <a:srgbClr val="087D73"/>
          </a:solidFill>
          <a:ln w="12700">
            <a:solidFill>
              <a:srgbClr val="087D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5915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intake + workflow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822960" y="2935224"/>
            <a:ext cx="164592" cy="164592"/>
          </a:xfrm>
          <a:prstGeom prst="ellipse">
            <a:avLst/>
          </a:prstGeom>
          <a:solidFill>
            <a:srgbClr val="087D73"/>
          </a:solidFill>
          <a:ln w="12700">
            <a:solidFill>
              <a:srgbClr val="087D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84378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/ compliance orchestration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822960" y="3419856"/>
            <a:ext cx="164592" cy="164592"/>
          </a:xfrm>
          <a:prstGeom prst="ellipse">
            <a:avLst/>
          </a:prstGeom>
          <a:solidFill>
            <a:srgbClr val="087D73"/>
          </a:solidFill>
          <a:ln w="12700">
            <a:solidFill>
              <a:srgbClr val="087D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2841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+ eSign + funding gate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822960" y="3904488"/>
            <a:ext cx="164592" cy="164592"/>
          </a:xfrm>
          <a:prstGeom prst="ellipse">
            <a:avLst/>
          </a:prstGeom>
          <a:solidFill>
            <a:srgbClr val="087D73"/>
          </a:solidFill>
          <a:ln w="12700">
            <a:solidFill>
              <a:srgbClr val="087D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8130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LSS/LMS servicing + reporting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4151376" y="1719072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5D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1376" y="171907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8F0FF"/>
          </a:solidFill>
          <a:ln w="12700">
            <a:solidFill>
              <a:srgbClr val="C5D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4256" y="1847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347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07408" y="2450592"/>
            <a:ext cx="164592" cy="164592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235915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Asset-aware decisioning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4407408" y="2935224"/>
            <a:ext cx="164592" cy="164592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84378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LTV / exposure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4407408" y="3419856"/>
            <a:ext cx="164592" cy="164592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332841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+ release conditions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407408" y="3904488"/>
            <a:ext cx="164592" cy="164592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8130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with collateral remedies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7735824" y="1719072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ED2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5824" y="1719072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FFF3D6"/>
          </a:solidFill>
          <a:ln w="12700">
            <a:solidFill>
              <a:srgbClr val="EED2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18470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9A6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INTEGRATE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91856" y="2450592"/>
            <a:ext cx="164592" cy="164592"/>
          </a:xfrm>
          <a:prstGeom prst="ellipse">
            <a:avLst/>
          </a:prstGeom>
          <a:solidFill>
            <a:srgbClr val="9A6B0A"/>
          </a:solidFill>
          <a:ln w="12700">
            <a:solidFill>
              <a:srgbClr val="9A6B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66176" y="235915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/ custody control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7991856" y="2935224"/>
            <a:ext cx="164592" cy="164592"/>
          </a:xfrm>
          <a:prstGeom prst="ellipse">
            <a:avLst/>
          </a:prstGeom>
          <a:solidFill>
            <a:srgbClr val="9A6B0A"/>
          </a:solidFill>
          <a:ln w="12700">
            <a:solidFill>
              <a:srgbClr val="9A6B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66176" y="284378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Dual-source price + chain monitor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7991856" y="3419856"/>
            <a:ext cx="164592" cy="164592"/>
          </a:xfrm>
          <a:prstGeom prst="ellipse">
            <a:avLst/>
          </a:prstGeom>
          <a:solidFill>
            <a:srgbClr val="9A6B0A"/>
          </a:solidFill>
          <a:ln w="12700">
            <a:solidFill>
              <a:srgbClr val="9A6B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66176" y="3328416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/ transaction screening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7991856" y="3904488"/>
            <a:ext cx="164592" cy="164592"/>
          </a:xfrm>
          <a:prstGeom prst="ellipse">
            <a:avLst/>
          </a:prstGeom>
          <a:solidFill>
            <a:srgbClr val="9A6B0A"/>
          </a:solidFill>
          <a:ln w="12700">
            <a:solidFill>
              <a:srgbClr val="9A6B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66176" y="381304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Liquidation + reconciliation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3959352" y="3191256"/>
            <a:ext cx="164592" cy="0"/>
          </a:xfrm>
          <a:prstGeom prst="line">
            <a:avLst/>
          </a:prstGeom>
          <a:noFill/>
          <a:ln w="2540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543800" y="3191256"/>
            <a:ext cx="164592" cy="0"/>
          </a:xfrm>
          <a:prstGeom prst="line">
            <a:avLst/>
          </a:prstGeom>
          <a:noFill/>
          <a:ln w="2540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66928" y="4956048"/>
            <a:ext cx="11055096" cy="1078992"/>
          </a:xfrm>
          <a:prstGeom prst="roundRect">
            <a:avLst>
              <a:gd name="adj" fmla="val 10169"/>
            </a:avLst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1389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 PATH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938528" y="5102352"/>
            <a:ext cx="859536" cy="310896"/>
          </a:xfrm>
          <a:prstGeom prst="roundRect">
            <a:avLst>
              <a:gd name="adj" fmla="val 41176"/>
            </a:avLst>
          </a:prstGeom>
          <a:solidFill>
            <a:srgbClr val="3A2E19"/>
          </a:solidFill>
          <a:ln w="12700">
            <a:solidFill>
              <a:srgbClr val="6D57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9968" y="512064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907792" y="5093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hybrid</a:t>
            </a:r>
            <a:endParaRPr lang="en-US" sz="1130" dirty="0"/>
          </a:p>
        </p:txBody>
      </p:sp>
      <p:sp>
        <p:nvSpPr>
          <p:cNvPr id="45" name="Shape 43"/>
          <p:cNvSpPr/>
          <p:nvPr/>
        </p:nvSpPr>
        <p:spPr>
          <a:xfrm>
            <a:off x="4315968" y="5276088"/>
            <a:ext cx="365760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800600" y="5102352"/>
            <a:ext cx="1234440" cy="310896"/>
          </a:xfrm>
          <a:prstGeom prst="roundRect">
            <a:avLst>
              <a:gd name="adj" fmla="val 41176"/>
            </a:avLst>
          </a:prstGeom>
          <a:solidFill>
            <a:srgbClr val="124A45"/>
          </a:solidFill>
          <a:ln w="12700">
            <a:solidFill>
              <a:srgbClr val="28756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51206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DD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RECOMMENDED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72200" y="5010912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3rd-party custody · BTC / USD</a:t>
            </a:r>
            <a:endParaRPr lang="en-US" sz="1010" dirty="0"/>
          </a:p>
          <a:p>
            <a:pPr algn="l" indent="0" marL="0">
              <a:buNone/>
            </a:pPr>
            <a:r>
              <a:rPr lang="en-US" sz="10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segregated · no rehypothecation</a:t>
            </a:r>
            <a:endParaRPr lang="en-US" sz="1010" dirty="0"/>
          </a:p>
        </p:txBody>
      </p:sp>
      <p:sp>
        <p:nvSpPr>
          <p:cNvPr id="49" name="Shape 47"/>
          <p:cNvSpPr/>
          <p:nvPr/>
        </p:nvSpPr>
        <p:spPr>
          <a:xfrm>
            <a:off x="8641080" y="5276088"/>
            <a:ext cx="347472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9098280" y="5093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710928" y="50017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contract vault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demand justifies risk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530352" y="6355080"/>
            <a:ext cx="11128248" cy="0"/>
          </a:xfrm>
          <a:prstGeom prst="line">
            <a:avLst/>
          </a:prstGeom>
          <a:noFill/>
          <a:ln w="8890">
            <a:solidFill>
              <a:srgbClr val="D8E1EA"/>
            </a:solidFill>
            <a:prstDash val="solid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548640" y="640994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code: WalletConnect Mock + Fireblocks Demo Vault + LF Vault Simulator; no real keys, custody or deployed smart contract.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280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ECONOMICS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Monetize the platform. Expose the full cost stack.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is lender/program economics; LendFoundry’s base case is implementation + SaaS + usage + servicing.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413248" cy="3529584"/>
          </a:xfrm>
          <a:prstGeom prst="roundRect">
            <a:avLst>
              <a:gd name="adj" fmla="val 310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84248"/>
            <a:ext cx="1024128" cy="310896"/>
          </a:xfrm>
          <a:prstGeom prst="roundRect">
            <a:avLst>
              <a:gd name="adj" fmla="val 41176"/>
            </a:avLst>
          </a:prstGeom>
          <a:solidFill>
            <a:srgbClr val="DDF7F3"/>
          </a:solidFill>
          <a:ln w="12700">
            <a:solidFill>
              <a:srgbClr val="A7E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0253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08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41248" y="2514600"/>
            <a:ext cx="2971800" cy="310896"/>
          </a:xfrm>
          <a:prstGeom prst="roundRect">
            <a:avLst>
              <a:gd name="adj" fmla="val 14706"/>
            </a:avLst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542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343400" y="2532888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" y="2990088"/>
            <a:ext cx="3264408" cy="310896"/>
          </a:xfrm>
          <a:prstGeom prst="roundRect">
            <a:avLst>
              <a:gd name="adj" fmla="val 14706"/>
            </a:avLst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017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subscription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343400" y="300837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41248" y="3465576"/>
            <a:ext cx="3557016" cy="310896"/>
          </a:xfrm>
          <a:prstGeom prst="roundRect">
            <a:avLst>
              <a:gd name="adj" fmla="val 14706"/>
            </a:avLst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493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funded loan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343400" y="3483864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1248" y="3941064"/>
            <a:ext cx="3849624" cy="310896"/>
          </a:xfrm>
          <a:prstGeom prst="roundRect">
            <a:avLst>
              <a:gd name="adj" fmla="val 14706"/>
            </a:avLst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9684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Servicing / API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343400" y="3959352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41248" y="4416552"/>
            <a:ext cx="4142232" cy="310896"/>
          </a:xfrm>
          <a:prstGeom prst="roundRect">
            <a:avLst>
              <a:gd name="adj" fmla="val 14706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4439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/ revenue share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343400" y="4434840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99632" y="1737360"/>
            <a:ext cx="5431536" cy="3529584"/>
          </a:xfrm>
          <a:prstGeom prst="roundRect">
            <a:avLst>
              <a:gd name="adj" fmla="val 3109"/>
            </a:avLst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5664" y="1984248"/>
            <a:ext cx="1325880" cy="310896"/>
          </a:xfrm>
          <a:prstGeom prst="roundRect">
            <a:avLst>
              <a:gd name="adj" fmla="val 41176"/>
            </a:avLst>
          </a:prstGeom>
          <a:solidFill>
            <a:srgbClr val="3B2A1B"/>
          </a:solidFill>
          <a:ln w="12700">
            <a:solidFill>
              <a:srgbClr val="6D57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2002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+ RISK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73952" y="2542032"/>
            <a:ext cx="2240280" cy="530352"/>
          </a:xfrm>
          <a:prstGeom prst="roundRect">
            <a:avLst>
              <a:gd name="adj" fmla="val 20690"/>
            </a:avLst>
          </a:prstGeom>
          <a:solidFill>
            <a:srgbClr val="12314B"/>
          </a:solidFill>
          <a:ln w="12700">
            <a:solidFill>
              <a:srgbClr val="294F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2724912"/>
            <a:ext cx="146304" cy="146304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62432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/ liquidity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8924544" y="2542032"/>
            <a:ext cx="2240280" cy="530352"/>
          </a:xfrm>
          <a:prstGeom prst="roundRect">
            <a:avLst>
              <a:gd name="adj" fmla="val 20690"/>
            </a:avLst>
          </a:prstGeom>
          <a:solidFill>
            <a:srgbClr val="12314B"/>
          </a:solidFill>
          <a:ln w="12700">
            <a:solidFill>
              <a:srgbClr val="294F6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2560" y="2724912"/>
            <a:ext cx="146304" cy="146304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8592" y="2624328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 + screening + KYC/AML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473952" y="3255264"/>
            <a:ext cx="2240280" cy="530352"/>
          </a:xfrm>
          <a:prstGeom prst="roundRect">
            <a:avLst>
              <a:gd name="adj" fmla="val 20690"/>
            </a:avLst>
          </a:prstGeom>
          <a:solidFill>
            <a:srgbClr val="12314B"/>
          </a:solidFill>
          <a:ln w="12700">
            <a:solidFill>
              <a:srgbClr val="294F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01968" y="3438144"/>
            <a:ext cx="146304" cy="146304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3375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+ RPC/indexer + gas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8924544" y="3255264"/>
            <a:ext cx="2240280" cy="530352"/>
          </a:xfrm>
          <a:prstGeom prst="roundRect">
            <a:avLst>
              <a:gd name="adj" fmla="val 20690"/>
            </a:avLst>
          </a:prstGeom>
          <a:solidFill>
            <a:srgbClr val="12314B"/>
          </a:solidFill>
          <a:ln w="12700">
            <a:solidFill>
              <a:srgbClr val="294F6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52560" y="3438144"/>
            <a:ext cx="146304" cy="146304"/>
          </a:xfrm>
          <a:prstGeom prst="ellipse">
            <a:avLst/>
          </a:prstGeom>
          <a:solidFill>
            <a:srgbClr val="7393B0"/>
          </a:solidFill>
          <a:ln w="12700">
            <a:solidFill>
              <a:srgbClr val="7393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08592" y="3337560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rails + reconciliation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473952" y="3968496"/>
            <a:ext cx="2240280" cy="530352"/>
          </a:xfrm>
          <a:prstGeom prst="roundRect">
            <a:avLst>
              <a:gd name="adj" fmla="val 20690"/>
            </a:avLst>
          </a:prstGeom>
          <a:solidFill>
            <a:srgbClr val="12314B"/>
          </a:solidFill>
          <a:ln w="12700">
            <a:solidFill>
              <a:srgbClr val="294F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1968" y="4151376"/>
            <a:ext cx="146304" cy="146304"/>
          </a:xfrm>
          <a:prstGeom prst="ellipse">
            <a:avLst/>
          </a:prstGeom>
          <a:solidFill>
            <a:srgbClr val="E25B65"/>
          </a:solidFill>
          <a:ln w="12700">
            <a:solidFill>
              <a:srgbClr val="E25B6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4050792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ops + compliance + security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8924544" y="3968496"/>
            <a:ext cx="2240280" cy="530352"/>
          </a:xfrm>
          <a:prstGeom prst="roundRect">
            <a:avLst>
              <a:gd name="adj" fmla="val 20690"/>
            </a:avLst>
          </a:prstGeom>
          <a:solidFill>
            <a:srgbClr val="12314B"/>
          </a:solidFill>
          <a:ln w="12700">
            <a:solidFill>
              <a:srgbClr val="294F6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52560" y="4151376"/>
            <a:ext cx="146304" cy="146304"/>
          </a:xfrm>
          <a:prstGeom prst="ellipse">
            <a:avLst/>
          </a:prstGeom>
          <a:solidFill>
            <a:srgbClr val="A4434B"/>
          </a:solidFill>
          <a:ln w="12700">
            <a:solidFill>
              <a:srgbClr val="A443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08592" y="4050792"/>
            <a:ext cx="1700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loss + liquidation slippage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66928" y="5513832"/>
            <a:ext cx="6784848" cy="612648"/>
          </a:xfrm>
          <a:prstGeom prst="roundRect">
            <a:avLst>
              <a:gd name="adj" fmla="val 17910"/>
            </a:avLst>
          </a:prstGeom>
          <a:solidFill>
            <a:srgbClr val="EEF2F6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" y="566013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 contribution = implementation + subscription + usage + servicing − pass-throughs − support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7543800" y="5513832"/>
            <a:ext cx="4087368" cy="612648"/>
          </a:xfrm>
          <a:prstGeom prst="roundRect">
            <a:avLst>
              <a:gd name="adj" fmla="val 17910"/>
            </a:avLst>
          </a:prstGeom>
          <a:solidFill>
            <a:srgbClr val="FFF3D6"/>
          </a:solidFill>
          <a:ln w="12700">
            <a:solidFill>
              <a:srgbClr val="EED2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35824" y="5596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A6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BENCHMARKS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887968" y="5586984"/>
            <a:ext cx="2468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7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Coinbase: 2% first $250K / 1% above  ·  Ledn: 2% admin fee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530352" y="6355080"/>
            <a:ext cx="11128248" cy="0"/>
          </a:xfrm>
          <a:prstGeom prst="line">
            <a:avLst/>
          </a:prstGeom>
          <a:noFill/>
          <a:ln w="8890">
            <a:solidFill>
              <a:srgbClr val="D8E1EA"/>
            </a:solidFill>
            <a:prstDash val="solid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548640" y="640994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terms accessed 6 Oct 2026; jurisdiction/product conditions vary. Proposed LF pricing and production vendor costs are not established.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280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13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RECOMMENDATION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52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 proves the journey.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plane must now become real.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85216" y="1975104"/>
            <a:ext cx="5230368" cy="2505456"/>
          </a:xfrm>
          <a:prstGeom prst="roundRect">
            <a:avLst>
              <a:gd name="adj" fmla="val 4380"/>
            </a:avLst>
          </a:prstGeom>
          <a:solidFill>
            <a:srgbClr val="0E2B47"/>
          </a:solidFill>
          <a:ln w="12700">
            <a:solidFill>
              <a:srgbClr val="2A55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212848"/>
            <a:ext cx="1508760" cy="310896"/>
          </a:xfrm>
          <a:prstGeom prst="roundRect">
            <a:avLst>
              <a:gd name="adj" fmla="val 41176"/>
            </a:avLst>
          </a:prstGeom>
          <a:solidFill>
            <a:srgbClr val="124A45"/>
          </a:solidFill>
          <a:ln w="12700">
            <a:solidFill>
              <a:srgbClr val="287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311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DDF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TODAY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77824" y="2779776"/>
            <a:ext cx="182880" cy="182880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743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07008" y="27066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+ operations portals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7824" y="3172968"/>
            <a:ext cx="182880" cy="182880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1363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07008" y="30998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18-stage workflow + decisions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" y="3566160"/>
            <a:ext cx="182880" cy="182880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5295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07008" y="3493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health / offer calculations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" y="3959352"/>
            <a:ext cx="182880" cy="182880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9227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07008" y="38862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repayment, release UX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" y="41605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providers and transactions are simulated.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053328" y="1975104"/>
            <a:ext cx="5541264" cy="2505456"/>
          </a:xfrm>
          <a:prstGeom prst="roundRect">
            <a:avLst>
              <a:gd name="adj" fmla="val 4380"/>
            </a:avLst>
          </a:prstGeom>
          <a:solidFill>
            <a:srgbClr val="0E2B47"/>
          </a:solidFill>
          <a:ln w="12700">
            <a:solidFill>
              <a:srgbClr val="2A55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2212848"/>
            <a:ext cx="1600200" cy="310896"/>
          </a:xfrm>
          <a:prstGeom prst="roundRect">
            <a:avLst>
              <a:gd name="adj" fmla="val 41176"/>
            </a:avLst>
          </a:prstGeom>
          <a:solidFill>
            <a:srgbClr val="3B2A1B"/>
          </a:solidFill>
          <a:ln w="12700">
            <a:solidFill>
              <a:srgbClr val="6D5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2311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FFF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GATES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64224" y="27432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84848" y="26883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+ funding partner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364224" y="307238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84848" y="3017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state / entity approval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364224" y="340156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84848" y="33467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 + price + screening + chain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364224" y="37307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84848" y="36758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Servicing ledger + reconciliation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6364224" y="40599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84848" y="4005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 + 24/7 liquidation ops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603504" y="4828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PATH TO PILOT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504" y="521208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12314B"/>
          </a:solidFill>
          <a:ln w="12700">
            <a:solidFill>
              <a:srgbClr val="2A55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3218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380744" y="52669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49808" y="56418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· legal · partners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2999232" y="5623560"/>
            <a:ext cx="301752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392424" y="521208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12314B"/>
          </a:solidFill>
          <a:ln w="12700">
            <a:solidFill>
              <a:srgbClr val="2A55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38728" y="53218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169664" y="52669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538728" y="56418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sandboxes · recon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5788152" y="5623560"/>
            <a:ext cx="301752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181344" y="521208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124A45"/>
          </a:solidFill>
          <a:ln w="12700">
            <a:solidFill>
              <a:srgbClr val="28756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53218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3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958584" y="52669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327648" y="56418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 / USD · capped exposure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8577072" y="5623560"/>
            <a:ext cx="301752" cy="0"/>
          </a:xfrm>
          <a:prstGeom prst="line">
            <a:avLst/>
          </a:prstGeom>
          <a:noFill/>
          <a:ln w="22860">
            <a:solidFill>
              <a:srgbClr val="13B8A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970264" y="521208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12314B"/>
          </a:solidFill>
          <a:ln w="12700">
            <a:solidFill>
              <a:srgbClr val="2A55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16568" y="53218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9747504" y="52669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116568" y="56418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A8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· resilience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603504" y="6327648"/>
            <a:ext cx="10972800" cy="27432"/>
          </a:xfrm>
          <a:prstGeom prst="rect">
            <a:avLst/>
          </a:prstGeom>
          <a:solidFill>
            <a:srgbClr val="244662"/>
          </a:solidFill>
          <a:ln w="12700">
            <a:solidFill>
              <a:srgbClr val="244662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" y="64373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3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ASK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664208" y="6400800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Phase 0 discovery + vendor/partner RFIs—not a production build.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LendFoundry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Lending on LendFoundry</dc:title>
  <dc:subject>Executive proposal for a LendFoundry crypto-backed lending platform</dc:subject>
  <dc:creator>OpenAI Codex for LendFoundry</dc:creator>
  <cp:lastModifiedBy>OpenAI Codex for LendFoundry</cp:lastModifiedBy>
  <cp:revision>1</cp:revision>
  <dcterms:created xsi:type="dcterms:W3CDTF">2026-10-06T13:55:29Z</dcterms:created>
  <dcterms:modified xsi:type="dcterms:W3CDTF">2026-10-06T13:55:29Z</dcterms:modified>
</cp:coreProperties>
</file>